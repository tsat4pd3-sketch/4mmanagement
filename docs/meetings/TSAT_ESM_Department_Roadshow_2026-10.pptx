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เปิด: วันนี้ไม่ใช่การโชว์ฟีเจอร์ แต่แต่ละส่วนงานจะเล่าว่า เมื่อก่อนทำงานแบบ manual ยังไง พอใช้ ESM แล้วลดอะไร ช่วยอะไร และการทำงานกับแผนกอื่นไวขึ้นแค่ไหน — ตัวเลขทุกตัววัดจากฐานข้อมูลจริง วันที่เขียนไว้มุมสไลด์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ช่วง: ทำไมต้อง ESM → ตัวเลขการส่งต่องานข้ามแผนกที่วัดได้จริง → แต่ละส่วนงานเล่าหน้างานตัวเอง (ส่วนงานละ ~3 นาที) → สถานะตรงๆ ว่าอะไรยังช้า และแต่ละส่วนงานจะทำอะไรต่อ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ประโยคหลัก: "บันทึกครั้งเดียวที่หน้างาน แล้วทุกแผนกเห็นข้อมูลชุดเดียวกัน" · ตัวอย่างจากหน้างานจริง: หัวหน้ากลุ่ม Assy2 เคยต้องเขียนมือ 3 ใบทุกครั้งทั้งที่ข้อมูลอยู่ในระบบแล้ว · สโตร์เคยอ่านจาก LINE ว่าใครเบิก ("มั่วมาก" — ทีมสโตร์เล่าเอง)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ตัวเลขทั้ง 4 วัดจากฐานข้อมูลจริง 06/10 เทียบเดือนแรกที่มีข้อมูลกับ ก.ย. 2026 (ไม่ใช่เทียบกับยุคกระดาษ เพราะยุคกระดาษไม่มีข้อมูล)</a:t>
            </a:r>
          </a:p>
          <a:p>
            <a:r>
              <a:t>• ช่างรับทราบการเรียก P80: 529 นาที (ส.ค.) → 30 นาที (ก.ย.) — 8 ใน 10 ครั้ง ช่างรับทราบภายใน 30 นาที</a:t>
            </a:r>
          </a:p>
          <a:p>
            <a:r>
              <a:t>• เครื่องหยุด → เปิดใบซ่อม ค่ากลาง 7.7 → 3.2 นาที</a:t>
            </a:r>
          </a:p>
          <a:p>
            <a:r>
              <a:t>• ใบซ่อม → ซ่อมเสร็จ P80: 7.9 ชม. → 0.9 ชม.</a:t>
            </a:r>
          </a:p>
          <a:p>
            <a:r>
              <a:t>• กะที่มี OEE พร้อมตอนปิดกะ: 70% → 96%</a:t>
            </a:r>
          </a:p>
          <a:p>
            <a:r>
              <a:t>ข้อควรพูดตรงๆ: ค่ากลางเวลารับทราบเดือน ต.ค. ขยับขึ้นเล็กน้อย (6.2 → 9.0 นาที) — ข้อมูล 6 วันแรกยังน้อย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ตารางนี้คือคำตอบของคำถาม "workflow ที่ต้องเกี่ยวข้องกับคนอื่นดีขึ้นยังไง" — คอลัมน์สถานะพูดตรงๆ: ขาที่ระบบทำเองทำงานครบ แต่ขาที่ต้องมีคนกด (QA ตัดสิน, สโตร์รับใบ, ประชุมออกใบติดตาม) ยังค้าง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ทุกแถว = ใบ/บันทึกที่เมื่อก่อนเขียนมือหรือทำ Excel — ตอนนี้บันทึกครั้งเดียวในระบบแล้วทุกแผนกเห็น (ตัวเลขนับจากฐานข้อมูลจริง 06/10)</a:t>
            </a:r>
          </a:p>
          <a:p>
            <a:r>
              <a:t>เด่นสุด: ใบซ่อม 76 → 496 ใบ/เดือน · ใบตรวจ PM 6 → 88 · downtime เกือบ 3,800 รายการ/เดือน</a:t>
            </a:r>
          </a:p>
          <a:p>
            <a:r>
              <a:t>บัญชีผู้ใช้ 100 · เข้าใช้ใน 30 วัน 71 คน · ใน 7 วัน 47 คน</a:t>
            </a:r>
          </a:p>
          <a:p>
            <a:r>
              <a:t>อย่าอ้าง: ใบรายงานของเสีย FM-PD2-002 ก.ย. = 0 ใบ และใบเบิก FM-STO-003 ยังไม่เคยใช้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ผลิต: ยกตัวอย่างหัวหน้ากลุ่ม Assy2 ที่เคยเขียนมือ 3 ใบ (FM-PD1-019 / FM-PD2-002 / FM-PD2-023) — ตอนนี้กดปุ่มเดียวจากข้อมูลกะ</a:t>
            </a:r>
          </a:p>
          <a:p>
            <a:r>
              <a:t>Demo: /daily-report ไลน์ 060/061 → OEE สด + %Q 100 ที่ยืนยันแล้ว → /morning-meeting โหมด TV แล้วกด ➕ Action สร้างใบติดตามจริง 1 ใบ</a:t>
            </a:r>
          </a:p>
          <a:p>
            <a:r>
              <a:t>ห้ามพูดเกิน: PD1/PD2 เพิ่งเริ่ม 17/09 ยังโชว์ OEE ไม่ได้ · งานแก้ (rework) ยังแทบไม่มีคนบันทึก · ปิดกะยังไม่บังคับตอบเรื่องคุณภาพ</a:t>
            </a:r>
          </a:p>
          <a:p>
            <a:r>
              <a:t>ให้หัวหน้าส่วนงานกรอกกล่องสีเหลือง: เมื่อก่อนใช้เวลาเขียนใบ/ทำสไลด์วันละกี่นาที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MTN: ตัวเลขจริง ก.ย. — ช่างรับทราบการเรียก P80 30 นาที (ส.ค. 529 นาที) · เครื่องหยุด→เปิดใบซ่อม 3.2 นาที · ใบซ่อม→ซ่อมเสร็จ P80 0.9 ชม.</a:t>
            </a:r>
          </a:p>
          <a:p>
            <a:r>
              <a:t>ก่อนแก้ 21/09: เรียกช่างครั้งเดียวเด้งถึงช่างทั้ง 13 คน 278 ครั้ง/30 วัน — ตอนนี้เด้งเฉพาะทีมที่ถูกเรียก</a:t>
            </a:r>
          </a:p>
          <a:p>
            <a:r>
              <a:t>Demo: /daily-report กด 📞 เรียกช่าง → เลือกทีม → เปิด /mtn-repair ใบเดียวกันเห็นข้อมูลเครื่องเติมแล้ว → /mtn-analysis?tab=qc7</a:t>
            </a:r>
          </a:p>
          <a:p>
            <a:r>
              <a:t>PM: ใบตรวจ ส.ค. 6 → ก.ย. 88 ใบ · แผน PM 147 แผน เลยกำหนดวันนี้แค่ 1</a:t>
            </a:r>
          </a:p>
          <a:p>
            <a:r>
              <a:t>ห้ามพูดเกิน: ซ่อมเร็วแล้ว แต่ปิดใบช้า — ใบค้างที่ขั้น QA 205 ใบ (06/10) · ห้ามใช้เลข "ใบซ่อม 7 ใบ" ใน infographic เก่า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JIG/DIE: ระบบพร้อมแล้ว แต่ยังไม่เริ่มใช้จริง — สถานะแม่พิมพ์ยังไม่เคยอัปเดต · ชิม fixture = 0 · ใบตรวจจิ๊กค้างรออนุมัติ</a:t>
            </a:r>
          </a:p>
          <a:p>
            <a:r>
              <a:t>สิ่งที่พูดได้จริง: ระบบชี้ว่าคิวกองอยู่ที่ทีมไหน (24/09: ใบรอทีม JIG รับ 23 ใบ นานสุด 22 วัน)</a:t>
            </a:r>
          </a:p>
          <a:p>
            <a:r>
              <a:t>Demo ใช้ได้เฉพาะถ้าทีม DIE วางหมุดบนผัง + อัปเดตสถานะจริงก่อนวันโชว์ (/equipment?tab=die) · ห้ามเปิดจอ fixture shim</a:t>
            </a:r>
          </a:p>
          <a:p>
            <a:r>
              <a:t>ระวัง: "262 แม่พิมพ์" (นับตัว) กับ "92 ชุด" (นับชุด) คนละหน่วย ให้เลือกพูดอย่างใดอย่างหนึ่ง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สโตร์: เล่าด้วยคำของทีมเอง (27/08) "อ่านจาก LINE chat กลุ่มว่ามีใครเบิกงาน เห็นใครเบิกก่อนก็จัดของไปส่งเลย มั่วมาก"</a:t>
            </a:r>
          </a:p>
          <a:p>
            <a:r>
              <a:t>ขาที่ระบบทำเองทำงานครบ (ปิดใบผลิต/ระเบิด BOM สำเร็จ 15,094/15,185 ครั้ง ณ 24/09) — ขาที่ต้องมีคนกดยังค้าง</a:t>
            </a:r>
          </a:p>
          <a:p>
            <a:r>
              <a:t>Demo: /heijunka แท็บคิวเติม WIP ให้เห็นใบที่เดินครบทุกขั้น หรือ /flow-tower ให้เห็นว่าปิดใบ FG ใบเดียวไหลไปถึงใบสั่งซื้อ</a:t>
            </a:r>
          </a:p>
          <a:p>
            <a:r>
              <a:t>ตัวเลขจริง (ต.ค.): ใบรอรับเข้าคลัง ปิดใบ→คลังกดรับ ค่ากลาง ~73 ชม. (โหมดนับก่อนรับเพิ่งเริ่ม 02/10 — ยังช้า) · ใบขอซื้อ "เร็วขึ้น" ห้ามอ้าง เพราะปนกับการเคลียร์แบบ bulk</a:t>
            </a:r>
          </a:p>
          <a:p>
            <a:r>
              <a:t>ห้ามพูดเกิน: ไลน์ประกอบยังไม่ตั้ง min/max · ห้ามวาดว่ามีขั้นสแกน lot · ยอดรับของ bulk 01/10 (~2 ล้านชิ้น) ยังรอยืนยันว่าเป็นของจริง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Logistic: Demo /planner-sales แผง 📬 ไฟล์จากเมลรอนำเข้า → กดนำเข้า → /customer-demand ดูสีรอบส่ง (เมลเข้า → แผนส่ง โดยไม่มีคนเปิดไฟล์แนบ)</a:t>
            </a:r>
          </a:p>
          <a:p>
            <a:r>
              <a:t>ใช้เลขใหม่: ปิดส่งลูกค้า 232 เที่ยว/8 วัน (30/09) — ห้ามใช้เลข "38 จาก 472" ของ 25/08</a:t>
            </a:r>
          </a:p>
          <a:p>
            <a:r>
              <a:t>ตัวเลขจริง: ส่งลูกค้าตรง/ก่อนกำหนด ส.ค. 91% → ก.ย. 72% (แย่ลง — ต้องอธิบายสาเหตุ) → ต.ค. 87% (6 วัน) · EDI จากเมลถึง→นำเข้า ค่ากลาง 87 → 5 ชม. (ข้อมูลน้อย)</a:t>
            </a:r>
          </a:p>
          <a:p>
            <a:r>
              <a:t>ห้ามพูดเกิน: ยังใช้บัญชีร่วมเป็นหลัก · ตัวดึงเมลทำงานเฉพาะตอนเครื่อง Outlook เปิด และยังต้องกดยืนยันนำเข้า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Planning: Demo /monitoring เปิดบอร์ดชีทเดียวกับที่ทีมทำใน Excel แล้วชี้แถว IN ที่ระบบเติมเอง เทียบกับช่องที่ยังว่าง (บอกตรงๆ ว่าว่างเพราะพาร์ทนั้นยังไม่มีใบผลิตในระบบ)</a:t>
            </a:r>
          </a:p>
          <a:p>
            <a:r>
              <a:t>ห้ามพูดเกิน: วางแผนผลิต + คำนวณ kanban ยังไม่ถูกใช้จริง · มีประวัติผลิตในระบบแค่ 26/106 พาร์ทของชีทไลน์ปั๊ม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QA: ส่วนนี้ต้องพูดตรงที่สุด — ระบบพร้อม แต่ยังไม่เริ่มใช้จริง (ถังแดงค้าง 33 ใบ · QA ยังไม่เคยตัดสินถัง · ใบซ่อมรอ QA ตรวจ 205 ใบ)</a:t>
            </a:r>
          </a:p>
          <a:p>
            <a:r>
              <a:t>ข้อแนะนำ: อย่าเปิดจอ QA โชว์จนกว่าจะตัดสินถังแดงครบ — ถ้าตัดสินแล้ว ให้โชว์ /qa แท็บถัง → ใบที่ตัดสิน "ทำลาย" → ไปเห็นที่ใบ FM-PD2-002</a:t>
            </a:r>
          </a:p>
          <a:p>
            <a:r>
              <a:t>สิ่งที่ QA ควรประกาศบนเวที: แผนเคลียร์ใบรอตรวจ + เริ่มตัดสินถังทุกวัน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PE: Demo /pe-docs ชุด P703 (Line 60) แท็บ Flow → ผังที่ระบบวาดเอง → แท็บ PFMEA เดียวกัน OP เดียวกัน (ข้อมูลจริงครบ) แล้วเชื่อมไป /order-trace ให้เห็นการสอบกลับถึง PFMEA</a:t>
            </a:r>
          </a:p>
          <a:p>
            <a:r>
              <a:t>ห้ามพูดเกิน: เอกสาร PE ไม่มีการอัปเดตตั้งแต่ 18 ส.ค. · PE ยังค้างส่ง CT 11 พาร์ท (ทำให้ %P ต่ำปลอม) · ห้ามเปิดจอ closed-loop 8D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HR/ธุรการ: เน้นว่าปฏิทินบริษัทเป็น "ข้อมูลกลาง" — ถ้าผิด kanban / แผนผลิต / PM / LPA ผิดตามหมดเงียบๆ (บทเรียนจริง 28–29 ก.ย.) · ตอนนี้ปฏิทินมีถึงปี 2027 แล้ว</a:t>
            </a:r>
          </a:p>
          <a:p>
            <a:r>
              <a:t>ตัวเลขจริง: ใบ OJT ในระบบ ก.ค. 1 · ส.ค. 12 · ก.ย. 6 · ต.ค. 1 ใบ · เช็คชื่อ ~3,500 แถว/เดือน · BBS 8/6/11 ใบ (ส.ค.–ต.ค.)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ผู้บริหาร: Demo เส้นทางที่ล็อกไว้ /factory-map → /tv → /obeya → ไลน์ 060/061 → /order-trace → /mtn-repair → /program-update</a:t>
            </a:r>
          </a:p>
          <a:p>
            <a:r>
              <a:t>ห้ามพูดเกิน: ACTION BOARD ยังไม่มีใบจริง (ต้องมี 5–10 ใบก่อนวันโชว์) · /group-overview เป็น mockup · ยังไม่ต่อ SAP/SCADA · ยังไม่ย้ายลง server บริษัท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สไลด์นี้ต้องพูด — GM ต่างโรงจะถามแน่ว่า "ใช้จริงแค่ไหน" การบอกเองดีกว่าโดนจับได้</a:t>
            </a:r>
          </a:p>
          <a:p>
            <a:r>
              <a:t>สรุปเดียว: ส่วนที่ระบบทำเองทำงานครบ · ส่วนที่ค้างคือขั้นที่ต้องมีคนกด ⇒ แต่ละส่วนงานรับปากเรื่องไหนบนเวที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อ้างอิงไทม์ไลน์คุมงานใน docs/ADOPTION-ROADMAP.md · ตัวเลขบนสไลด์ทั้งหมดจะวัดใหม่เช้าวันโชว์ และเขียนวันที่วัดไว้ทุกสไลด์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ปิด: ระบบไม่ได้ทำงานแทนคน — ระบบทำให้คนทุกแผนกเห็นข้อมูลชุดเดียวกัน และส่งงานต่อกันได้เร็วขึ้น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ESM Department Roadshow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5323"/>
                </a:solidFill>
                <a:latin typeface="Tahoma"/>
              </a:rPr>
              <a:t>From paper to a connected shopfloor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Department roadshow · each department presents its own floor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TSAT · Thai Summit Group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My Quality Declaration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ESM DEPARTMENT ROADSHOW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6464" y="1764792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1.   Why ESM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2148840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One shopfloor record instead of paper, Excel and chat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2606040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2.   Cross-department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90088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Measured hand-offs: calls, repairs, approvals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3447288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3.   Department stories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831336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Production · MTN · JIG/DIE · Store · Logistic · Planning · QA · PE · HR ·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4288536"/>
            <a:ext cx="10058400" cy="38404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68734"/>
                </a:solidFill>
                <a:latin typeface="Tahoma"/>
              </a:rPr>
              <a:t>4.   Honest status &amp;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4672584"/>
            <a:ext cx="9601200" cy="32918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What is still slow and what each department commits to</a:t>
            </a:r>
          </a:p>
        </p:txBody>
      </p:sp>
      <p:pic>
        <p:nvPicPr>
          <p:cNvPr id="12" name="Picture 1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Why ESM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Information used to live in paper, Excel and chat groups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48640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4864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5212080" cy="32918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Paper forms written by hand, then re-typed into Excel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Calling maintenance = walking or phoning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Requesting parts from Store = LINE group chat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OEE known only at month-end, if at all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Tracing a problem = searching files and asking shift leaders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645920"/>
            <a:ext cx="548640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645920"/>
            <a:ext cx="54864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645920"/>
            <a:ext cx="54864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194560"/>
            <a:ext cx="5212080" cy="32918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Record once at the line — every department sees the same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Calls, repair orders, approvals flow to the right team automatically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Live OEE during the shift, locked when the shift is approved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Printed forms (FM-…) generated from the data, numbered by the system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•  One order number traces the whole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Cross-department hand-offs got faster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068734"/>
                </a:solidFill>
                <a:latin typeface="Tahoma"/>
              </a:rPr>
              <a:t>First month live vs September 2026 — Measured from ESM database · 06 Oct 2026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6974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2697480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529 → 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51460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Call technician → acknowledged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2514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P80 · Aug → Sep · 279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691640"/>
            <a:ext cx="26974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801368"/>
            <a:ext cx="2697480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7.7 → 3.2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514600"/>
            <a:ext cx="251460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Machine stop → repair order opened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880360"/>
            <a:ext cx="2514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median · Aug → Sep · 294 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691640"/>
            <a:ext cx="26974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1801368"/>
            <a:ext cx="2697480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7.9 → 0.9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514600"/>
            <a:ext cx="251460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Repair order → repair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880360"/>
            <a:ext cx="2514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P80 · Aug → Sep · 456 MOs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5984" y="1691640"/>
            <a:ext cx="269748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5984" y="1801368"/>
            <a:ext cx="2697480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70% → 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514600"/>
            <a:ext cx="251460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Shifts with OEE ready at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2880360"/>
            <a:ext cx="2514600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Jul → Sep · 485 shifts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11256264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11256264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Tahoma"/>
              </a:rPr>
              <a:t>What changed in the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✔  Production presses 📞 and picks the team (JIG / DIE / MTN) — only that team is alerted; unanswered 15 min = escalation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✔  A repair order opens straight from the downtime record — machine, line and cost center are filled in, nothing re-typed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✔  Closing a repair closes the downtime — OEE for the shift is correct immediately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Hand-off map — who works with whom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Before (manual) vs with ESM · status as of 05 Oct 2026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65176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00200"/>
            <a:ext cx="25603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Hand-off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600200"/>
            <a:ext cx="265176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2112" y="1600200"/>
            <a:ext cx="25603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Before (manual)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600200"/>
            <a:ext cx="448056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1600200"/>
            <a:ext cx="438912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600200"/>
            <a:ext cx="146304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14432" y="1600200"/>
            <a:ext cx="137160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659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659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Production → MTN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19659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2112" y="19659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Walk / phone the technician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965960"/>
            <a:ext cx="44805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19659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📞 call by team · MO opened from downtime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1965960"/>
            <a:ext cx="14630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14432" y="19659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In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231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4231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MTN → QA → requester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4231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112" y="24231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Paper form passed by hand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423160"/>
            <a:ext cx="4480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3872" y="24231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Step-by-step MO, morning digest 'waiting QA'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242316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14432" y="24231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88A00"/>
                </a:solidFill>
                <a:latin typeface="Tahoma"/>
              </a:rPr>
              <a:t>Slow at QA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8803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Production → Store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28803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28803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LINE group chat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2880360"/>
            <a:ext cx="44805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3872" y="28803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WIP call → pick scan → delivery scan → receive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2880360"/>
            <a:ext cx="14630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4432" y="28803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88A00"/>
                </a:solidFill>
                <a:latin typeface="Tahoma"/>
              </a:rPr>
              <a:t>Starting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3375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33375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Close FG order → Store / Purchasing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33375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82112" y="33375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Calculated by hand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337560"/>
            <a:ext cx="4480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33872" y="33375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BOM explodes automatically into lot / buy / raw requests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333756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14432" y="33375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Auto works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37947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Customer → Sales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7947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2112" y="37947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Save mail attachments, upload by hand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3794760"/>
            <a:ext cx="44805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33872" y="37947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EDI 830/862 mail queued automatically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1280" y="3794760"/>
            <a:ext cx="14630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14432" y="37947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In use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2519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2519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Planning → Production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42519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82112" y="42519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13-sheet Excel updated daily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4251960"/>
            <a:ext cx="4480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33872" y="42519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/monitoring + /production-plan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41280" y="425196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14432" y="42519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88A00"/>
                </a:solidFill>
                <a:latin typeface="Tahoma"/>
              </a:rPr>
              <a:t>Starting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7091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47091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Production → QA (bins)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08960" y="47091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82112" y="47091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3 hand-written forms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4709160"/>
            <a:ext cx="44805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33872" y="47091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Bin from the shift record, QA decides in 4 ways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41280" y="4709160"/>
            <a:ext cx="14630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14432" y="47091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Not yet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1663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" y="51663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MTN → Production (PM)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5166360"/>
            <a:ext cx="26517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82112" y="51663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Plan sent by e-mail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60720" y="5166360"/>
            <a:ext cx="44805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33872" y="51663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PM forecast + coordination board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41280" y="516636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14432" y="51663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In use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6235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0352" y="56235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68734"/>
                </a:solidFill>
                <a:latin typeface="Tahoma"/>
              </a:rPr>
              <a:t>Meeting → everyone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08960" y="5623560"/>
            <a:ext cx="26517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82112" y="5623560"/>
            <a:ext cx="25420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In heads / chat / paper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5623560"/>
            <a:ext cx="44805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833872" y="5623560"/>
            <a:ext cx="43708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68734"/>
                </a:solidFill>
                <a:latin typeface="Tahoma"/>
              </a:rPr>
              <a:t>Action board with owner and due date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241280" y="5623560"/>
            <a:ext cx="146304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14432" y="5623560"/>
            <a:ext cx="135331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5323"/>
                </a:solidFill>
                <a:latin typeface="Tahoma"/>
              </a:rPr>
              <a:t>Not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Paper replaced — records per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Measured from ESM database · 06 Oct 2026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743200" cy="38404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00200"/>
            <a:ext cx="26517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3566160" cy="38404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600200"/>
            <a:ext cx="347472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Replaces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600200"/>
            <a:ext cx="1188720" cy="38404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1600200"/>
            <a:ext cx="109728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Aug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600200"/>
            <a:ext cx="1188720" cy="38404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1600200"/>
            <a:ext cx="109728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Sep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84248"/>
            <a:ext cx="27432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1984248"/>
            <a:ext cx="263347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Shift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984248"/>
            <a:ext cx="35661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1984248"/>
            <a:ext cx="34564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Daily production report (paper)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9842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19842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497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19842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2" y="19842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505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4144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441448"/>
            <a:ext cx="263347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Downtime records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441448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3552" y="2441448"/>
            <a:ext cx="34564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Downtime log book / 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441448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24414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3,688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441448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2" y="24414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3,792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98648"/>
            <a:ext cx="27432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898648"/>
            <a:ext cx="263347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Repair orders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2898648"/>
            <a:ext cx="35661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73552" y="2898648"/>
            <a:ext cx="34564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FM-MTN-006 / FM-JIG-008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8986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2" y="28986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28986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2" y="28986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496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35584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3355848"/>
            <a:ext cx="263347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LPA audits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355848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3552" y="3355848"/>
            <a:ext cx="34564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FM-QMR-008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355848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9712" y="33558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3355848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8432" y="33558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222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813048"/>
            <a:ext cx="27432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3813048"/>
            <a:ext cx="263347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Attendance rows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813048"/>
            <a:ext cx="35661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73552" y="3813048"/>
            <a:ext cx="34564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Check-in sheet / manpower board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38130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39712" y="38130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2,897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38130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28432" y="38130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3,489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27024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270248"/>
            <a:ext cx="263347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PM inspection sheets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4270248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73552" y="4270248"/>
            <a:ext cx="34564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Paper PM check sheet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6560" y="4270248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9712" y="42702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80" y="4270248"/>
            <a:ext cx="1188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28432" y="42702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88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727448"/>
            <a:ext cx="27432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0352" y="4727448"/>
            <a:ext cx="263347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BBS / OJT / quality bins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4727448"/>
            <a:ext cx="356616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73552" y="4727448"/>
            <a:ext cx="345643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Excel BBS · FM-HRM-004 · bin tags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0" y="47274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39712" y="47274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55280" y="4727448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28432" y="4727448"/>
            <a:ext cx="1078992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5323"/>
                </a:solidFill>
                <a:latin typeface="Tahoma"/>
              </a:rPr>
              <a:t>26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418320" y="1600200"/>
            <a:ext cx="233172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18320" y="1709928"/>
            <a:ext cx="2331720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71 / 100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2423160"/>
            <a:ext cx="2148839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Accounts active in 30 days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2788920"/>
            <a:ext cx="2148839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47 in the last 7 days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18320" y="3383280"/>
            <a:ext cx="233172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18320" y="3493008"/>
            <a:ext cx="2331720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4206240"/>
            <a:ext cx="2148839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PM plans overdue today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4572000"/>
            <a:ext cx="2148839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of 147 active 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Production (PD1–PD4)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From hand-written forms to live OEE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Group leader hand-writes problem report, bin tag and scrap report (3 forms)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Morning meeting needs someone to make slides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LPA plan and BBS on paper / Excel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OEE not known until month-end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Scan kanban to open/close orders; RH/LH pairs open together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Live OEE during the shift, locked after approval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Problem report &amp; scrap report (FM-PD2-002) built from the shift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Morning meeting agenda generated automatically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Re-typing the same data into 3 forms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Meeting slide preparation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Daily LPA planning by hand (fills a whole quarter)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Arguing which OEE number is right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calls MTN by team · requests parts from Store · sends bins to QA · receives PM plan from MTN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Maintenance (MTN)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Repair orders that move by themselves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Paper repair form FM-MTN-006 passed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Spare-part list in Excel, rank decided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Monthly summary = add up printed forms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Every call reached all 13 technicians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Scan machine QR → line, section, cost center filled 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Repair can start at once; manager signs after (line does not wait)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Response / repair-time clocks start automatically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Spare parts deducted in the MO, A/B/C rank automatic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Waiting for approval before repairing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Calls to the wrong team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Building the monthly report by hand (Excel export, 3 sheets)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Ranking spare parts by hand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receives calls from Production · hands over to QA and the requester · sends PM plan to 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JIG &amp; DIE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Equipment records that answer 'where is it, what state?'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Not 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JIG repair form FM-JIG-008 on paper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Shim records not kept (customer request)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Die location and state known by memory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JIG team was called to DIE jobs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Repair orders routed to the JIG or DIE team only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Die register + storage map with pins + live status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Open repair order turns the die red automatically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Fixture shim record per point (customer requirement)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Calls to the wrong team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Searching for dies on the floor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Separate paper shim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receive calls from Production · report die / jig readiness back to 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From reading the LINE chat to a pull board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Partly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Requests read from the LINE group chat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"First to ask gets served" — no rounds, no phases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Child-part demand calculated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Stock adjusted without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Store board: WIP calls, child parts, purchasing, raw material, FG receipts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Closing an FG order explodes the BOM into requests automatically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Pick scan blocks the wrong part; delivery-point scan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Goods counted before they enter stock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Reading chat to know who needs what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Calculating child-part demand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Wrong-part deliveries (blocked by scan)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receives WIP calls from Production · sends purchase needs to Purchasing · receives finished goods from 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Logistic / Delivery / Warehouse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Customer mail in, delivery rounds out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Partly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Ford EDI 830/862 attachments saved and uploaded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e-SMART downloaded every ~2 hours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FG stock kept separately from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EDI mail queued automatically every 15 min, one click to import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e-SMART upload = customer's final confirmation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Delivery countdown in 4 phases; 'shipped' deducts stock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FG enters stock when the line closes the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Saving attachments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Re-keying FG receipts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Missing which round has no stock (shown red)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receives customer demand · receives FG from Production · alerts Production when stock is short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Sales &amp;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From a 13-sheet Excel to a live board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Partly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13-sheet monitoring Excel updated by hand every day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Kanban calculated in Excel each month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Customer part numbers matched to MAT by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/monitoring: same sheets, IN / OUT / BALANCE filled from real orders and stock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Kanban calculator uses the company calendar and master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Production plan: how many shifts, which days need OT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Customer part → MAT matched automatically, mismatches flagged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Typing production IN / OUT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Re-entering product data every month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Silent part-number mismatches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receives customer demand · gives the plan frame to Production · gives lot sizes to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Quality (QA)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Ready in the system — adoption starts now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Not started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Suspect / scrap bin tags and logs on paper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Writing material requests to Production for test samples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Production writes scrap forms for parts QA took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Sequential inspection; out-of-spec 'pass' is blocked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Yellow / red bins with 4-way QA decision and tag age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Material request FM-STO-003 → approve → Store issues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QA-taken parts flow into the scrap report automatically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Double paperwork between QA and Production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Lost track of bins past their tag 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receives bins and 4M from Production · checks repairs after MTN (step 5) · decisions flow back to 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Process Engineering (PE)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One data set instead of three Excel files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Partly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PFC, PFMEA and Control Plan in 3 separate Excel files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Keeping operations consistent across files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Revision history in file names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/pe-docs: one data set, three views on the same operations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Import existing Excel; export PFMEA / CP to Excel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Process flow drawn from the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Revision linked to its cause (claim / NCR / defect)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Maintaining 3 files in sync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Searching which revision came from which 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shares PFMEA / CP with QA and Production · receives cycle times and claims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HR &amp;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Training, attendance and the calendar everyone depends on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Partly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OJT form FM-HRM-004 signed on paper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Monthly KPI pack (FM-HRM-6-022/024/025) printed and signed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Attendance and OT bus booking by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/ojt-training: scores and signatures on screen, printable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KPI pack exported to Excel in the HR form layout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Check-in: attendance, PPE and OT bus in one screen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Company calendar drives kanban, plan, PM and LPA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Printing and chasing signatures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Re-typing KPI packs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Wrong working-day counts (calendar now set to 2027)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the calendar feeds every department · attendance feeds manpower and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Management / OBEYA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From a paper wall to one scoreboard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69848"/>
            <a:ext cx="2103120" cy="347472"/>
          </a:xfrm>
          <a:prstGeom prst="round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069848"/>
            <a:ext cx="21031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Partly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BEFORE  (manual)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Paper OBEYA KPI board on the wall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Review deck and Excel even disagreed on targets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Decisions stayed in heads, chat or paper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Tracing = searching files, asking shift leaders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WITH ESM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/obeya: monthly KPI + daily SQDCM, one scoring rule for every screen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Factory map and TV Andon for every 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/order-trace: one order number shows the whole chain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Action board: owner and due date for every miss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657600" cy="3383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1600200"/>
            <a:ext cx="3657600" cy="4206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WHAT WE CUT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148840"/>
            <a:ext cx="3383280" cy="2743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Arguing which number is right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Updating the wall board by hand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68734"/>
                </a:solidFill>
                <a:latin typeface="Tahoma"/>
              </a:rPr>
              <a:t>•  Hours of tracing (seconds now)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83696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102352"/>
            <a:ext cx="1106424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Works with others:  </a:t>
            </a:r>
            <a:r>
              <a:rPr sz="1200" b="0" i="0">
                <a:solidFill>
                  <a:srgbClr val="068734"/>
                </a:solidFill>
                <a:latin typeface="Tahoma"/>
              </a:rPr>
              <a:t>sees every department's data · assigns actions back to departments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11283696" cy="457200"/>
          </a:xfrm>
          <a:prstGeom prst="roundRect">
            <a:avLst/>
          </a:prstGeom>
          <a:noFill/>
          <a:ln w="1905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760720"/>
            <a:ext cx="110093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8A00"/>
                </a:solidFill>
                <a:latin typeface="Tahoma"/>
              </a:rPr>
              <a:t>Department to fill:  time per day BEFORE  ____ min   →   WITH ESM  ____ min   ·   forms per month removed  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What is still slow — and we say it openly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Measured from ESM database · 06 Oct 2026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2176272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2176272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1993391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Repair orders waiting for 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993391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median wait 13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691640"/>
            <a:ext cx="2176272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01368"/>
            <a:ext cx="2176272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97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14600"/>
            <a:ext cx="1993391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Repair order →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880360"/>
            <a:ext cx="1993391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median · Sep (fixed fast, closed slow)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91640"/>
            <a:ext cx="2176272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801368"/>
            <a:ext cx="2176272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13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514600"/>
            <a:ext cx="1993391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Shift close →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880360"/>
            <a:ext cx="1993391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median · Sep (Jul: 4.7 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691640"/>
            <a:ext cx="2176272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801368"/>
            <a:ext cx="2176272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514600"/>
            <a:ext cx="1993391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QA decisions on scrap bins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880360"/>
            <a:ext cx="1993391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33 red bins open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691640"/>
            <a:ext cx="2130552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801368"/>
            <a:ext cx="2130552" cy="6858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514600"/>
            <a:ext cx="1947672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D3D14"/>
                </a:solidFill>
                <a:latin typeface="Tahoma"/>
              </a:rPr>
              <a:t>Action items from meetings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880360"/>
            <a:ext cx="19476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since 13 Jul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11274552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66160"/>
            <a:ext cx="11274552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Pattern: steps the system does by itself work — steps that need a person to press are where work waits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➜  QA: daily session to clear repair orders at step 5 and decide every 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➜  Supervisors: approve shift-close requests the same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➜  Every morning meeting: at least one action item with an owner and a due date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Next steps to the roadshow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Owner per department · 06 – 30 Oct 2026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017520" cy="1051560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017520" cy="10515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Week 2  (12–16 Oct)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737360"/>
            <a:ext cx="8119872" cy="1051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1737360"/>
            <a:ext cx="7772400" cy="10515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QA clears bins &amp; step-5 repairs · DIE updates die status · first real action 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63239"/>
            <a:ext cx="3017520" cy="1051560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39"/>
            <a:ext cx="3017520" cy="10515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Week 3  (19–22 Oct)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063239"/>
            <a:ext cx="8119872" cy="1051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3063239"/>
            <a:ext cx="7772400" cy="10515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Each department rehearses its own 3 minutes · fill in the 'before' numbers · collect 3 real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3017520" cy="1051560"/>
          </a:xfrm>
          <a:prstGeom prst="round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017520" cy="10515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Tahoma"/>
              </a:rPr>
              <a:t>Week 4  (26–30 Oct)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389120"/>
            <a:ext cx="8119872" cy="1051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4389120"/>
            <a:ext cx="7772400" cy="10515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68734"/>
                </a:solidFill>
                <a:latin typeface="Tahoma"/>
              </a:rPr>
              <a:t>Feature freeze · final numbers measured the morning of the show · roadshow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79776"/>
            <a:ext cx="10552176" cy="64922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500" b="1" i="0">
                <a:solidFill>
                  <a:srgbClr val="068734"/>
                </a:solidFill>
                <a:latin typeface="Tahoma"/>
              </a:rPr>
              <a:t>Before We Build Parts, We Build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10552176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68734"/>
                </a:solidFill>
                <a:latin typeface="Tahoma"/>
              </a:rPr>
              <a:t>Thank you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