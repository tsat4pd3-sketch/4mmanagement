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เปิด: ESM คือระบบเดียวที่ทุกแผนกในโรงงานใช้ร่วมกัน — บันทึกครั้งเดียวที่หน้างาน แล้วทุกคนเห็นข้อมูลชุดเดียวกันทันที</a:t>
            </a:r>
          </a:p>
          <a:p>
            <a:r>
              <a:t>วันนี้จะเล่า 3 เรื่อง: แต่ละแผนกใช้อะไรได้บ้าง · งานของแต่ละแผนกเชื่อมกันยังไง · และได้อะไร 4 ข้อ: เห็นสด ลดงาน ใช้ง่าย ลดต้นทุน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ช่วง ใช้เวลารวม ~15 นาที: ภาพรวม → แผนกไหนใช้อะไร → งานเชื่อมกันยังไง → ลงรายละเอียดทีละแผนก → สรุปประโยชน์ 4 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เสาหลักของ ESM — สีเดียวกันนี้จะโผล่ท้ายสไลด์ทุกแผนก (ส้ม=เห็นสด · เขียว=ลดงาน · น้ำเงิน=ใช้ง่าย · ม่วง=ลดต้นทุน)</a:t>
            </a:r>
          </a:p>
          <a:p>
            <a:r>
              <a:t>ตัวเลขผู้ใช้: บัญชี 100 · ใช้จริงใน 30 วัน 71 คน · ใน 7 วัน 47 คน (วัด 06/10)</a:t>
            </a:r>
          </a:p>
          <a:p>
            <a:r>
              <a:t>~1,300 ใบ/เดือน = ใบซ่อม MO 496 + ใบตรวจ PM 88 + รายงานกะ 505 + LPA 222 (ก.ย.)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ภาพเดียวตอบคำถาม "แผนกไหนใช้อะไร" — ทุกแผนกเข้าระบบเดียวกัน ด้วยบัญชีเดียว เมนูที่เห็นขึ้นกับสิทธิ์ของแต่ละคน</a:t>
            </a:r>
          </a:p>
          <a:p>
            <a:r>
              <a:t>ถ้าผู้บริหารถามว่าใช้จริงแค่ไหน: MTN/PD3/PD4 ใช้ทุกวัน · PD1/PD2/Store/Logistic/Planning กำลังขยาย · QA/JIG/DIE/PE ระบบพร้อม แต่ยังลงข้อมูลน้อย (ดูสถานะใน roadshow-dept-stories §0)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สายงานที่เห็นภาพชัดที่สุดว่าทุกแผนกต่อกันในระบบเดียว</a:t>
            </a:r>
          </a:p>
          <a:p>
            <a:r>
              <a:t>① เครื่องหยุด: ผลิตลง downtime → กดเรียกช่าง เลือกทีม (เด้งเฉพาะทีมนั้น · ไม่รับใน 15 นาทีเตือนเอง) → เปิดใบ MO ต่อจาก downtime → ซ่อม → QA ตรวจ → OEE กะนั้นอัปเดต → ขึ้น KPI บน OBEYA</a:t>
            </a:r>
          </a:p>
          <a:p>
            <a:r>
              <a:t>② ลูกค้าสั่งของ: เมล EDI เข้าคิวเอง → วางแผน/Monitoring → ไลน์สแกนคัมบังผลิต → ปิดใบแล้วระบบระเบิด BOM ขอพาร์ทลูกเอง → คลังนับแล้วรับ → ส่งของตัดสต็อกทันที</a:t>
            </a:r>
          </a:p>
          <a:p>
            <a:r>
              <a:t>ปิดด้วย /order-trace: เลขใบเดียวกางได้ทั้งเส้น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ต่อไปลงรายละเอียดทีละแผนก — ทุกสไลด์มี 3 ช่องเหมือนกัน: ทำอะไรได้ · จอหลัก · เชื่อมกับใคร และแถบ 4 สีด้านล่าง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ผลิตคือต้นทาง: บันทึกครั้งเดียวที่หน้างาน แล้วข้อมูลวิ่งไปทุกแผนก</a:t>
            </a:r>
          </a:p>
          <a:p>
            <a:r>
              <a:t>ตัวเลข ก.ย.: รายงานกะในระบบ 505 ใบ · downtime 3,792 รายการ · เช็คชื่อ 3,489 ครั้ง · กะที่ OEE พร้อมตอนปิดกะ 70% → 96% (ก.ค. → ก.ย.)</a:t>
            </a:r>
          </a:p>
          <a:p>
            <a:r>
              <a:t>เดโม: /daily-report เปิดกะ → ลง downtime → กดเรียกช่าง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MTN คือแผนกที่เห็นผลชัดที่สุด</a:t>
            </a:r>
          </a:p>
          <a:p>
            <a:r>
              <a:t>วัดจริง ส.ค. → ก.ย.: เรียกช่างถึงรับเรื่อง (P80) 529 → 30 นาที · เครื่องหยุดถึงเปิด MO (ค่ากลาง) 7.7 → 3.2 นาที · เปิด MO ถึงซ่อมเสร็จ (P80) 7.9 → 0.9 ชม.</a:t>
            </a:r>
          </a:p>
          <a:p>
            <a:r>
              <a:t>ใบ MO ในระบบ ส.ค. 76 → ก.ย. 496 ใบ · ใบตรวจ PM 6 → 88 · แผน PM 147 แผน เลยกำหนดวันนี้ 1</a:t>
            </a:r>
          </a:p>
          <a:p>
            <a:r>
              <a:t>ข้อควรระวัง: ใบค้างรอ QA ยังเยอะ (205 ใบ) — ถ้าถูกถามให้ตอบตรงๆ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JIG/DIE ใช้ระบบเดียวกับ MTN แต่แยกทีม — ปุ่มเรียกช่างต้องเลือกทีม เด้งเฉพาะทีมนั้น (เดิมเรียกทั้ง 13 คนทุกทีม)</a:t>
            </a:r>
          </a:p>
          <a:p>
            <a:r>
              <a:t>สถานะจริง: ทะเบียนพร้อม · ใบตรวจจิ๊กและบันทึกชิมยังลงน้อย — พูดเป็น 'ระบบพร้อมใช้' ไม่ใช่ 'ใช้เต็มแล้ว'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QA: ระบบพร้อมครบ แต่การใช้งานยังน้อย (ผลตัดสินถัง = 0 · ใบตรวจล่าสุด ส.ค.)</a:t>
            </a:r>
          </a:p>
          <a:p>
            <a:r>
              <a:t>ตอนนำเสนอให้เน้นว่า 'ระบบรองรับอะไร' และยกเป็นเป้าเดือนหน้า — อย่าพูดว่าใช้เต็มแล้ว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สโตร์: เดิมรับคำขอผ่าน LINE กลุ่ม (ทีมสโตร์เล่าเองว่า 'มั่วมาก')</a:t>
            </a:r>
          </a:p>
          <a:p>
            <a:r>
              <a:t>ตอนนี้ขาที่ระบบทำเองครบ (ระเบิด BOM ออกใบเอง) · ขาที่ต้องมีคนกด (รับใบ/บันทึกจ่าย) ยังต้องฝึกเพิ่ม</a:t>
            </a:r>
          </a:p>
          <a:p>
            <a:r>
              <a:t>รับเข้าคลังหลังปิดใบผลิต ค่ากลางยัง ~73 ชม. — ถ้าถูกถาม ตอบว่าโหมดนับก่อนรับเพิ่งเริ่ม 02/10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Logistic: เมล EDI เข้าคิวเองทุก 15 นาที (เดิมต้องเซฟไฟล์แนบแล้วลากเข้าเอง)</a:t>
            </a:r>
          </a:p>
          <a:p>
            <a:r>
              <a:t>ตัวเลขส่งตรงเวลา: ส.ค. 91% · ก.ย. 72% · ต.ค. 87% (6 วันแรก) — ผู้นำเสนอต้องเตรียมเหตุผลที่ ก.ย. ตก</a:t>
            </a:r>
          </a:p>
          <a:p>
            <a:r>
              <a:t>จุดที่ต้องปิด: ยังใช้บัญชีร่วม — ควรให้แต่ละคนมีบัญชีของตัวเอง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Planning: เป้าคือเลิกทำ Excel Monitoring 13 ชีททุกวัน — จอ /monitoring หน้าตาเดียวกับ Excel ที่ทีมใช้</a:t>
            </a:r>
          </a:p>
          <a:p>
            <a:r>
              <a:t>สถานะจริง: ระบบพร้อม · การใช้แผนผลิต/คำนวณคัมบังยังน้อย — ยกเป็นเป้าเดือนหน้า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PE: 3 ไฟล์ Excel (PFC/PFMEA/CP) กลายเป็นข้อมูลชุดเดียว มองได้ 3 มุม</a:t>
            </a:r>
          </a:p>
          <a:p>
            <a:r>
              <a:t>พาร์ทต้นแบบ P703 (สาย 060/061) ลงข้อมูลเต็มใบแล้ว ใช้เดโมได้</a:t>
            </a:r>
          </a:p>
          <a:p>
            <a:r>
              <a:t>สถานะจริง: เอกสารลงล่าสุด ส.ค. · คลัง PFMEA กลางรอ PE ยืนยัน 43 กระบวนการ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HR/ธุรการ: ปฏิทินบริษัทสำคัญมาก — ปฏิทินผิด = คัมบัง/แผนผลิต/PM/LPA ผิดหมดเงียบๆ (เคยเกิดจริง 28–29 ก.ย.)</a:t>
            </a:r>
          </a:p>
          <a:p>
            <a:r>
              <a:t>ใบ OJT ในระบบ: ส.ค. 12 · ก.ย. 6 ใบ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ผู้บริหาร: บอร์ด OBEYA กระดาษบนผนังย้ายเข้าระบบ — ESM เป็นที่ผลิตตัวเลข Actual ไม่ได้ทำแข่งกับ KPI Online ของกลุ่ม</a:t>
            </a:r>
          </a:p>
          <a:p>
            <a:r>
              <a:t>สถานะจริง: Action board ยัง 0 รายการ — ขอให้ผู้บริหารใช้ตั้ง action จริงอย่างน้อย 5 รายการ</a:t>
            </a:r>
          </a:p>
          <a:p>
            <a:r>
              <a:t>/group-overview เป็นตัวอย่างจอ (mockup) — ต้องบอกทุกครั้ง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สรุปประโยชน์ 4 ข้อ พร้อมตัวเลขที่วัดได้จริง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Realtime: ตัวเลข 4 ตัวบนสุดวัดจากฐานข้อมูลจริง 06/10 (เรียกช่าง 279 ครั้ง · MO 294/456 ใบ · กะ 485 กะ)</a:t>
            </a:r>
          </a:p>
          <a:p>
            <a:r>
              <a:t>หลักคิด: ระบบไม่ได้ยิงแจ้งเตือนทุกคน — เด้งเฉพาะคนที่ต้องทำ ไม่งั้นคนจะเลิกดู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ลดงาน: ตารางคือจำนวนบันทึกต่อเดือนที่เมื่อก่อนเป็นกระดาษ/Excel (วัด 06/10)</a:t>
            </a:r>
          </a:p>
          <a:p>
            <a:r>
              <a:t>MO 76 → 496 และ PM 6 → 88 คือแผนกที่ย้ายจากกระดาษมาเต็มตัวในเดือนเดียว</a:t>
            </a:r>
          </a:p>
          <a:p>
            <a:r>
              <a:t>LPA ก.ย. ลดลง (289 → 222) — ถ้าถูกถาม: เป็นจำนวนการตรวจ ไม่ใช่ปัญหาระบบ</a:t>
            </a:r>
          </a:p>
          <a:p>
            <a:r>
              <a:t>ขอให้แต่ละแผนกเติมว่า 'เมื่อก่อนใช้เวลากี่นาทีต่อวัน' ในเด็คโรดโชว์รายแผนก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ใช้ง่าย: ออกแบบจาก feedback หน้างาน เช่น สแกน QR แทนเลือกจาก dropdown ยาวๆ ตอนใส่ถุงมือ</a:t>
            </a:r>
          </a:p>
          <a:p>
            <a:r>
              <a:t>จอ TV หน้างานเป็นเบราว์เซอร์รุ่นเก่า (Chromium 94 บน webOS 2023) — ระบบทดสอบให้ผ่านทุกครั้งก่อนขึ้นใช้งาน</a:t>
            </a:r>
          </a:p>
          <a:p>
            <a:r>
              <a:t>ทุกหน้าถูกตรวจอัตโนมัติที่ความกว้างมือถือก่อน deploy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ลดต้นทุน — สำคัญ: สไลด์นี้ไม่ใส่ตัวเลขเงินบาท เพราะยังไม่ได้คำนวณร่วมกับฝ่ายบัญชี (ห้ามเดาตัวเลขต่อหน้าผู้บริหาร)</a:t>
            </a:r>
          </a:p>
          <a:p>
            <a:r>
              <a:t>พูดได้: ไม่มีค่าไลเซนส์ (ทำเองในโรงงาน) · ใช้อุปกรณ์เดิม · กระดาษ ~1,300 ใบ/เดือนย้ายเข้าระบบ · เครื่องรอซ่อมสั้นลงชัดเจน</a:t>
            </a:r>
          </a:p>
          <a:p>
            <a:r>
              <a:t>ถ้าถูกถามตัวเลขเงิน: เสนอว่าจะคำนวณร่วมกับบัญชี เช่น ชั่วโมงเครื่องรอซ่อมที่ลดลง × ต้นทุนต่อชั่วโมงของไลน์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ก้าวต่อไป: (1) ทุกแผนกลงข้อมูลทุกวัน (2) ผู้บริหารใช้ตัวเลขตั้ง action จริง (3) แก้จุดส่งต่อที่ยังช้า — MO รอ QA 205 ใบ, รับเข้าคลัง ~73 ชม.</a:t>
            </a:r>
          </a:p>
          <a:p>
            <a:r>
              <a:t>(4) ต่อเครื่องจักร SCADA ภายหลัง — เครื่องบอกข้อเท็จจริง คนบอกเหตุผล (5) ขยายไปโรงงานอื่น เริ่มที่ผลิต + ซ่อมบำรุงก่อน</a:t>
            </a:r>
          </a:p>
          <a:p>
            <a:r>
              <a:t>สิ่งที่ยังไม่ได้ทำ ห้ามพูดว่าเสร็จ: ต่อ SAP/SCADA · ระบบหลายบริษัทจริง (/group-overview เป็นตัวอย่างจอ)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ปิด: บันทึกครั้งเดียว ทุกคนเห็น และเห็นทันที — ระบบไม่ได้ทำงานแทนคน แต่ทำให้ทุกแผนกส่งงานต่อกันเร็วขึ้นบนข้อมูลชุดเดียวกัน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02920"/>
            <a:ext cx="1481328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14600"/>
            <a:ext cx="1033272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Tahoma"/>
              </a:rPr>
              <a:t>ESM Program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BD9B0"/>
                </a:solidFill>
                <a:latin typeface="Tahoma"/>
              </a:rPr>
              <a:t>One connected system for every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ahoma"/>
              </a:rPr>
              <a:t>Enterprise Shopfloor Management · who uses what · how the work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FE0C8"/>
                </a:solidFill>
                <a:latin typeface="Tahoma"/>
              </a:rPr>
              <a:t>TSAT · Thai Summit Group ·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EBD9B0"/>
                </a:solidFill>
                <a:latin typeface="Tahoma"/>
              </a:rPr>
              <a:t>Real-time · Less work · Easy to use · Lower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Agenda</a:t>
            </a:r>
          </a:p>
        </p:txBody>
      </p:sp>
      <p:pic>
        <p:nvPicPr>
          <p:cNvPr id="3" name="Picture 2" descr="logo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3108960" cy="32918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676656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D3D14"/>
                </a:solidFill>
                <a:latin typeface="Tahoma"/>
              </a:rPr>
              <a:t>ESM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19"/>
            <a:ext cx="676656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One login · every department · PC, phone and TV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676656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D3D14"/>
                </a:solidFill>
                <a:latin typeface="Tahoma"/>
              </a:rPr>
              <a:t>Who uses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676656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Departments and their screens on one page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08960"/>
            <a:ext cx="676656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D3D14"/>
                </a:solidFill>
                <a:latin typeface="Tahoma"/>
              </a:rPr>
              <a:t>How the work connects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74720"/>
            <a:ext cx="676656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Two end-to-end flows across departments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23360"/>
            <a:ext cx="676656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D3D14"/>
                </a:solidFill>
                <a:latin typeface="Tahoma"/>
              </a:rPr>
              <a:t>Department by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89120"/>
            <a:ext cx="676656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Features, key screens and hand-offs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37760"/>
            <a:ext cx="676656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D3D14"/>
                </a:solidFill>
                <a:latin typeface="Tahoma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03520"/>
            <a:ext cx="676656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Real-time · Less work · Easy to use · Lower cost</a:t>
            </a:r>
          </a:p>
        </p:txBody>
      </p:sp>
      <p:pic>
        <p:nvPicPr>
          <p:cNvPr id="24" name="Picture 23" descr="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ESM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Record once at the line — every department sees the same data, live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REALTIME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Live OEE during the shift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Andon on factory map &amp;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Calls go to the right team's phone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Escalates by itself if unanswered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LESS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No re-typing paper into Excel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Official FM- forms printed from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OEE, PM due dates, kanban calculated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System opens follow-up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EASY TO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Scan QR on machine / jig / part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Thai screens, one login for all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Works on phone, PC and factory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'My queue' shows what waits for 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LOWER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Built in-house — no per-user licence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Uses PCs, phones, TVs we already have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~1,300 paper forms / month now digital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✓  Less machine waiting time for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19472"/>
            <a:ext cx="2724912" cy="82296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561E"/>
                </a:solidFill>
                <a:latin typeface="Tahom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departments on one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4919472"/>
            <a:ext cx="2724912" cy="82296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561E"/>
                </a:solidFill>
                <a:latin typeface="Tahoma"/>
              </a:rPr>
              <a:t>80+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screens &amp; 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19472"/>
            <a:ext cx="2724912" cy="82296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561E"/>
                </a:solidFill>
                <a:latin typeface="Tahoma"/>
              </a:rPr>
              <a:t>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people active in last 30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4919472"/>
            <a:ext cx="2724912" cy="82296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561E"/>
                </a:solidFill>
                <a:latin typeface="Tahom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login · PC · phone · 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Active users: Measured from ESM database · 06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Who uses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Every department works in the same system — each sees its own screens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745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88552"/>
              </a:tblGrid>
              <a:tr h="40732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Department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Main screens / functions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Production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Daily Report · Downtime &amp; NG · Check-in &amp; PPE · LPA · Scrap report · Problem report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Maintenance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Repair orders (MO) · Andon board · PM plans &amp; checks · Spare parts · KPI &amp; QC 7 tools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JIG / DIE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Jig &amp; die registry · Shim record · Die status · Jig inspection · Setup-time rules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Quality (QA)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Inspection sheets · Yellow / red bins · 4M approval · CQI-15 · Test-part requisition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Store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Store board (WIP refill · raw mat · purchase) · Stock receipts · Store monitor · BOM auto-request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Logistic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Customer demand &amp; shipping · EDI from e-mail · FG stock · In-plant transport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Planning / Sales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Production plan · Monitoring boards · Kanban calculation · Customer part matching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Engineering (PE)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Process flow · PFMEA · Control plan · NPI / APQP / PPAP · 4M change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HR / Admin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OJT training (e-sign) · Skills matrix · Workforce insight · Company calendar · OT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Management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5F2D"/>
                          </a:solidFill>
                          <a:latin typeface="Tahoma"/>
                        </a:rPr>
                        <a:t>OBEYA KPI &amp; SQDCM · Factory map · TV dashboards · Order trace · Action board</a:t>
                      </a:r>
                    </a:p>
                  </a:txBody>
                  <a:tcPr marT="27432" marB="27432">
                    <a:solidFill>
                      <a:srgbClr val="ECF1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How the work connects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One event at the line moves through every department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561E"/>
                </a:solidFill>
                <a:latin typeface="Tahoma"/>
              </a:rPr>
              <a:t>①  A machine stops</a:t>
            </a:r>
          </a:p>
        </p:txBody>
      </p:sp>
      <p:sp>
        <p:nvSpPr>
          <p:cNvPr id="8" name="Pentagon 7"/>
          <p:cNvSpPr/>
          <p:nvPr/>
        </p:nvSpPr>
        <p:spPr>
          <a:xfrm>
            <a:off x="457200" y="1965960"/>
            <a:ext cx="2005584" cy="868680"/>
          </a:xfrm>
          <a:prstGeom prst="homePlat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Line records stop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Daily Report · 1 tap</a:t>
            </a:r>
          </a:p>
        </p:txBody>
      </p:sp>
      <p:sp>
        <p:nvSpPr>
          <p:cNvPr id="10" name="Chevron 9"/>
          <p:cNvSpPr/>
          <p:nvPr/>
        </p:nvSpPr>
        <p:spPr>
          <a:xfrm>
            <a:off x="2343911" y="19659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8231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Calls the right team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JIG / DIE / MTN phone</a:t>
            </a:r>
          </a:p>
        </p:txBody>
      </p:sp>
      <p:sp>
        <p:nvSpPr>
          <p:cNvPr id="12" name="Chevron 11"/>
          <p:cNvSpPr/>
          <p:nvPr/>
        </p:nvSpPr>
        <p:spPr>
          <a:xfrm>
            <a:off x="4230623" y="1965960"/>
            <a:ext cx="2005584" cy="868680"/>
          </a:xfrm>
          <a:prstGeom prst="chevron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4943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Repair order opens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MO from the downtime</a:t>
            </a:r>
          </a:p>
        </p:txBody>
      </p:sp>
      <p:sp>
        <p:nvSpPr>
          <p:cNvPr id="14" name="Chevron 13"/>
          <p:cNvSpPr/>
          <p:nvPr/>
        </p:nvSpPr>
        <p:spPr>
          <a:xfrm>
            <a:off x="6117336" y="19659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Repair → QA check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Signed on screen</a:t>
            </a:r>
          </a:p>
        </p:txBody>
      </p:sp>
      <p:sp>
        <p:nvSpPr>
          <p:cNvPr id="16" name="Chevron 15"/>
          <p:cNvSpPr/>
          <p:nvPr/>
        </p:nvSpPr>
        <p:spPr>
          <a:xfrm>
            <a:off x="8004047" y="1965960"/>
            <a:ext cx="2005584" cy="868680"/>
          </a:xfrm>
          <a:prstGeom prst="chevron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8367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OEE updates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Shift + factory map</a:t>
            </a:r>
          </a:p>
        </p:txBody>
      </p:sp>
      <p:sp>
        <p:nvSpPr>
          <p:cNvPr id="18" name="Chevron 17"/>
          <p:cNvSpPr/>
          <p:nvPr/>
        </p:nvSpPr>
        <p:spPr>
          <a:xfrm>
            <a:off x="9890759" y="19659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5079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KPI on OBEYA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Management sees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79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②  A customer order arrives</a:t>
            </a:r>
          </a:p>
        </p:txBody>
      </p:sp>
      <p:sp>
        <p:nvSpPr>
          <p:cNvPr id="21" name="Pentagon 20"/>
          <p:cNvSpPr/>
          <p:nvPr/>
        </p:nvSpPr>
        <p:spPr>
          <a:xfrm>
            <a:off x="457200" y="3566160"/>
            <a:ext cx="2005584" cy="868680"/>
          </a:xfrm>
          <a:prstGeom prst="homePlate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EDI e-mail 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Auto queue · 15 min</a:t>
            </a:r>
          </a:p>
        </p:txBody>
      </p:sp>
      <p:sp>
        <p:nvSpPr>
          <p:cNvPr id="23" name="Chevron 22"/>
          <p:cNvSpPr/>
          <p:nvPr/>
        </p:nvSpPr>
        <p:spPr>
          <a:xfrm>
            <a:off x="2343911" y="35661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8231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Plan &amp; 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Shifts / OT needed</a:t>
            </a:r>
          </a:p>
        </p:txBody>
      </p:sp>
      <p:sp>
        <p:nvSpPr>
          <p:cNvPr id="25" name="Chevron 24"/>
          <p:cNvSpPr/>
          <p:nvPr/>
        </p:nvSpPr>
        <p:spPr>
          <a:xfrm>
            <a:off x="4230623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4943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Line produces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Scan kanban card</a:t>
            </a:r>
          </a:p>
        </p:txBody>
      </p:sp>
      <p:sp>
        <p:nvSpPr>
          <p:cNvPr id="27" name="Chevron 26"/>
          <p:cNvSpPr/>
          <p:nvPr/>
        </p:nvSpPr>
        <p:spPr>
          <a:xfrm>
            <a:off x="6117336" y="35661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Close order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BOM requests parts</a:t>
            </a:r>
          </a:p>
        </p:txBody>
      </p:sp>
      <p:sp>
        <p:nvSpPr>
          <p:cNvPr id="29" name="Chevron 28"/>
          <p:cNvSpPr/>
          <p:nvPr/>
        </p:nvSpPr>
        <p:spPr>
          <a:xfrm>
            <a:off x="8004047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8367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Store &amp; FG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Count, then receive</a:t>
            </a:r>
          </a:p>
        </p:txBody>
      </p:sp>
      <p:sp>
        <p:nvSpPr>
          <p:cNvPr id="31" name="Chevron 30"/>
          <p:cNvSpPr/>
          <p:nvPr/>
        </p:nvSpPr>
        <p:spPr>
          <a:xfrm>
            <a:off x="9890759" y="3566160"/>
            <a:ext cx="2005584" cy="868680"/>
          </a:xfrm>
          <a:prstGeom prst="chevron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5079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Ship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Cuts stock · red if short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00600"/>
            <a:ext cx="11274552" cy="91440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One order number traces everything:  </a:t>
            </a:r>
            <a:r>
              <a:rPr sz="1250" b="0" i="0">
                <a:solidFill>
                  <a:srgbClr val="2C5F2D"/>
                </a:solidFill>
                <a:latin typeface="Tahoma"/>
              </a:rPr>
              <a:t>which line, shift, people, machine stops, defects, repairs and the PFMEA line behind it — on one screen (Order Trace).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_p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52360" y="2651760"/>
            <a:ext cx="4206240" cy="1463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ahoma"/>
              </a:rPr>
              <a:t>Department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ahoma"/>
              </a:rPr>
              <a:t>by department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Record once at the line — the rest of the factory sees it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Open the shift and scan the kanban card — no order typing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Log stops and defects with reason; live OEE (A × P × Q) during the shift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Call maintenance by team with one button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Daily check-in, PPE and skills fit for each workstation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LPA audits and scrap / problem reports printed as official FM- forms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Shift approval locks the numbers — no editing afterwards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Daily Report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Check-in &amp; PPE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Layer Process Audit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Scrap Report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Problem report &amp; bins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Factory map / TV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Calls + repair order opened from the 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Suspect parts to yellow / red bins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Closing an order requests child parts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OEE flows to OBEYA KPI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OEE known during the shift, not at month-end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hand-written daily report or re-typing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Scan instead of choosing from long lists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Faster calls = less line waiting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Maintenance (MTN)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From a phone call to a tracked repair order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Calls arrive on the right team's phone and Andon board — with siren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Repair order (MO) opens straight from the machine stop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Repairs start at once; approvals are signed afterwards on screen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PM plans, due dates and check sheets — overdue shows red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Spare parts used per MO; rank A / B / C automatically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Technician KPI, MTTR / MTBF and QC 7 tools built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Repair orders (MO)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MTN Andon board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PM forecast &amp; checks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PM coordination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Equipment &amp; spares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MTN analysis / QC7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Receives calls; told when the line can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Checks the repair before closing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Spare-part stock and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Sees PM days ahead to build buffer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Call acknowledged P80: 529 → 30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paper FM-MTN-006 / FM-JIG-008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Everything on the phone at the machine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Repair done P80: 7.9 h → 0.9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JIG &amp;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Tooling history in one place instead of separate files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Registry of jigs and dies with QR labels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Jig inspection points and photos per checkpoint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Fixture shim record — customer requirement for sustainability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Die status: ready / in repair / at the press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Setup-time rules per press (die height, shut height)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JIG / DIE team receives only its own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Equipment center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Jig registry &amp; shim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Die maintenance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PM setup (jig checks)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Repair orders (MO)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Calls JIG / DIE team directly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Same MO workflow, own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Die setup time used in the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Checks after jig 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Only the right team is alerted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One registry — no separate Excel 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Scan the tool to open its history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Fewer wrong-team calls and walking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Quality (QA)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Quality decisions recorded where the parts are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Inspection sheets piece by piece — out-of-spec cannot be passed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Yellow / red bin tags with age; QA decides scrap / repair / use-as-is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4M change approval with Telegram alert at every step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CQI-15 welding event log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Test-part requisition FM-STO-003 replaces hand-written slips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Suspect parts stay out of %Q until QA decides — numbers stay honest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QA inspection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Quality bins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4M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CQI-15 event log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Test-part requisition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Bins and 4M come from the 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QA checks repairs before close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Issues test parts to QA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Defects link to PFMEA 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Bin age alerts before tags expire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re-writing 3 paper forms per 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Decide on screen at the bin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Scrap counted once, at the right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From LINE chat requests to a tracked queue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Store board: WIP refill, child parts, raw material, purchase, FG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Closing a production order explodes the BOM and requests parts by itself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Scan the part (wrong part = blocked) and the delivery point QR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Count before receiving; differences need a reason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Manual stock adjustments wait for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Store monitor: below min, over max, late rounds, short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Heijunka / store board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Line stock &amp; receipts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Store monitor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Flow tower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Material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Line requests refill; closes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Purch.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Shortage creates purchase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Issues test parts with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Logist.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FG receipts feed shipping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Late rounds and short stock turn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reading requests from chat groups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Scan-to-pick, scan-to-deliver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Less excess stock and fewer stock-outs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Logistic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Customer orders arrive by themselves; shipping cuts stock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EDI 830 / 862 attachments pulled from e-mail into a queue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Customer call-off (e-SMART) overrides the plan as final quantity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Shipping countdown in 4 phases; stock enough / short / none in colour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'Shipped' cuts FG stock at once — failure turns red, never silent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FG receipts from the line: count, then receive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In-plant transport: drivers, shortest stop order,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Customer demand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Planner &amp; Sales (EDI)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FG stock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Transport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Rundown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EDI and e-SMART feed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'No stock — must produce!'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FG receipts from closed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Which shipments a breakdown hits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Late shipments show red the day before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saving and dragging e-mail 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One screen per shipping round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Fewer premium freights from surprises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Planning &amp;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Plans from real capacity, not from Excel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Production plan from real output (median of last 60 days)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Tells how many shifts, which days need OT, night shift or holiday 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Monitoring boards replace the 13-sheet daily Excel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Kanban calculation from forecast with the company calendar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Customer part numbers matched to MAT; unmatched ones are flagged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Plan vs actual per part — over and off-plan shown, never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Production plan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Monitoring boards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Kanban calculation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Planner &amp; Sales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Company calendar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Orders and forecast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Plan = frame; the line confirms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Kanban and lot size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PM days shown before planning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Plan vs actual updates as the line closes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daily 13-sheet 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Same screens as the Excel the team knows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Right shifts and OT — not too many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Engineering (PE) &amp; NPI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Process documents as one living data set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Process flow, PFMEA and control plan from one data set (by OP)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Import existing Excel files; export in the original layout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Central PFMEA library — system proposes, engineer decides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Revisions linked to the claim, defect or repair that caused them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NPI: APQP phases, PPAP elements, drawing revisions, tooling plan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4M Method change linked to the engineering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PE documents (PFC / PFMEA / CP)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PFMEA master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NPI / APQP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4M change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Order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Defects and 8D point to PFMEA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Control plan at the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Repairs can trigger a revision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New-part status per customer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Change once — flow, FMEA and CP stay in sync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3 separate Excel files per part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See every revision and why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Fewer repeat claims via yokoten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HR &amp;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People, skills and the calendar every plan depends on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OJT training FM-HRM-004 with on-screen signatures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Skills matrix and individual evaluation forms printed from 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Daily check-in, OT and holiday transport booking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Company calendar drives OT, kanban, plans, PM and LPA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Workforce insight: daily manpower, station changes, turnover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Monthly KPI packs exported in the HRM form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OJT training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Skills matrix / operator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Workforce insight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Company calendar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Manpower 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Skills fit for each workstation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Calendar errors reach every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Manpower and turnover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KPI packs in the official 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Manpower per line seen today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printing and signing paper packs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Sign on the screen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Less overtime planned by mistake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Management &amp; OBEYA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The whole factory on one wall — and on your phone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61772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OBEYA KPI board and SQDCM — actual numbers come from the floor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Factory map: every line's Andon colour on one screen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TV dashboards per department, controlled from a phone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Order trace: one number shows the whole history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Action board: off-target → owner → due date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C5F2D"/>
                </a:solidFill>
                <a:latin typeface="Tahoma"/>
              </a:rPr>
              <a:t>•  'Program update' shows what changed each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697480" cy="2670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OBEYA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Factory 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TV / department dashboards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Order trace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▸ Program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Every KPI comes from department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Andon and OEE per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Downtime cost and MTTR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C5F2D"/>
                </a:solidFill>
                <a:latin typeface="Tahoma"/>
              </a:rPr>
              <a:t>Plan vs actual per part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561E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KPI updated as the floor records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No printing KPI sheets for the wall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5F8B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One screen answers 'where are we?'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D8F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C5F2D"/>
                </a:solidFill>
                <a:latin typeface="Tahoma"/>
              </a:rPr>
              <a:t>Decide on facts, faster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_p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52360" y="2651760"/>
            <a:ext cx="4206240" cy="1463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ahoma"/>
              </a:rPr>
              <a:t>Why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Tahoma"/>
              </a:rPr>
              <a:t>matters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Real-time: everyone sees the same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From 'we find out at month-end' to 'we see it during the shift'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C0561E"/>
                </a:solidFill>
                <a:latin typeface="Tahoma"/>
              </a:rPr>
              <a:t>529 →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Call → acknowledged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Aug → Sep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C0561E"/>
                </a:solidFill>
                <a:latin typeface="Tahoma"/>
              </a:rPr>
              <a:t>7.7 → 3.2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Stop → repair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median · Aug → Sep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C0561E"/>
                </a:solidFill>
                <a:latin typeface="Tahoma"/>
              </a:rPr>
              <a:t>7.9 → 0.9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Repair order →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Aug → Sep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C0561E"/>
                </a:solidFill>
                <a:latin typeface="Tahoma"/>
              </a:rPr>
              <a:t>70% → 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D3D14"/>
                </a:solidFill>
                <a:latin typeface="Tahoma"/>
              </a:rPr>
              <a:t>Shifts with OEE at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Jul → Sep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577840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UPDATES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76472"/>
            <a:ext cx="5303520" cy="1911095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Andon colour of every line — factory map and TV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OEE, output and stops during the shift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Maintenance Andon with siren per team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Shipping rounds: enough / short / 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77840" cy="420624"/>
          </a:xfrm>
          <a:prstGeom prst="rect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3246120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HOW PEOPLE ARE TOLD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776472"/>
            <a:ext cx="5303520" cy="1911095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Phone push and Telegram to the right team only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Escalates by itself when nobody answers in 15 min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'My queue' — what waits for me, in one place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Morning summary per department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Measured from ESM database · 06 Oct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Less work: paper and re-typing removed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Records per month that used to be paper or Excel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6675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051560"/>
                <a:gridCol w="1051560"/>
              </a:tblGrid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Record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Replaces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Aug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Sep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Repair orders (MO)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FM-MTN-006 / FM-JIG-008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PM inspections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Paper check sheets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88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Downtime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Notebook / whiteboard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3,688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3,792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Shift reports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Paper daily report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497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505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LPA audits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FM-QMR-008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3D14"/>
                          </a:solidFill>
                          <a:latin typeface="Tahoma"/>
                        </a:rPr>
                        <a:t>Check-in records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Attendance sheet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Tahoma"/>
                        </a:rPr>
                        <a:t>2,897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0561E"/>
                          </a:solidFill>
                          <a:latin typeface="Tahoma"/>
                        </a:rPr>
                        <a:t>3,489</a:t>
                      </a:r>
                    </a:p>
                  </a:txBody>
                  <a:tcPr>
                    <a:solidFill>
                      <a:srgbClr val="ECF1E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600200"/>
            <a:ext cx="441655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416552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4416552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THE SYSTEM DOES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30552"/>
            <a:ext cx="4142232" cy="29626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Calculates OEE, MTTR, MTBF, PPM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Works out PM due dates and kanban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Opens follow-up orders (MO, parts, purchase)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Prints official FM- forms with running numbers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•  Exports monthly KPI packs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74552" cy="502920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Record once at the line → no re-typing into Excel, no copying between departments.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Easy to use: built for the shopfloor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Designed with the people who use it every day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Scan, don't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QR labels on machines, jigs, parts and delivery points — scan to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Thai screens, one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Same account for every department; menu shows only what you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Phone, PC or factory 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Tested on phone width and on the 2023 TV browsers at the 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Control the TV from a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No keyboard needed at the board — pair with a 6-digit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'My queue'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Everything waiting for me in one list — nothing to search for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3657600" cy="10972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5F8B"/>
                </a:solidFill>
                <a:latin typeface="Tahoma"/>
              </a:rPr>
              <a:t>Mistakes caught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Wrong part blocked · time outside the shift warned · AM/PM swap fixed in one tap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Lower cost: where the savings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Operational effects measured today — baht value to be calculated with Finance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3D8F"/>
                </a:solidFill>
                <a:latin typeface="Tahoma"/>
              </a:rPr>
              <a:t>In-house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No licence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Built in-house by the plant team — no per-user or per-module licence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3D8F"/>
                </a:solidFill>
                <a:latin typeface="Tahoma"/>
              </a:rPr>
              <a:t>Existing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Hardware we already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Runs in a web browser on existing PCs, phones and line TVs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3D8F"/>
                </a:solidFill>
                <a:latin typeface="Tahoma"/>
              </a:rPr>
              <a:t>~1,300 forms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paper &amp; printing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Repair, PM, shift and LPA forms now digital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3D8F"/>
                </a:solidFill>
                <a:latin typeface="Tahoma"/>
              </a:rPr>
              <a:t>7.9 h → 0.9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machine waiting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Repair order → done, P80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61188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3D8F"/>
                </a:solidFill>
                <a:latin typeface="Tahoma"/>
              </a:rPr>
              <a:t>Record 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admin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No re-typing paper into Excel; KPI and forms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11880"/>
            <a:ext cx="109728" cy="1847088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3D8F"/>
                </a:solidFill>
                <a:latin typeface="Tahoma"/>
              </a:rPr>
              <a:t>Pay for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Low-cost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C5F2D"/>
                </a:solidFill>
                <a:latin typeface="Tahoma"/>
              </a:rPr>
              <a:t>No server room; usage-based cloud with image and data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Figures: Measured from ESM database · 06 Oct 2026 · ~1,300 = MO 496 + PM 88 + shift reports 505 + LPA 222 (Sep)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D3D14"/>
                </a:solidFill>
                <a:latin typeface="Tahom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C5F2D"/>
                </a:solidFill>
                <a:latin typeface="Tahoma"/>
              </a:rPr>
              <a:t>Deeper use at TSAT first — then a recipe for other plants</a:t>
            </a:r>
          </a:p>
        </p:txBody>
      </p:sp>
      <p:pic>
        <p:nvPicPr>
          <p:cNvPr id="4" name="Picture 3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327648"/>
            <a:ext cx="36576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6327648"/>
            <a:ext cx="41148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943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66928" cy="566928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99616"/>
            <a:ext cx="10543032" cy="713232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9961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Every department records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9961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QA bins, JIG / DIE status, PE documents and planning — from 'ready' to 'used'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566928" cy="566928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368296"/>
            <a:ext cx="10543032" cy="713232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6829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Managers act on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36829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Action board in OBEYA: at least 5 real actions per month with owner and date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291839"/>
            <a:ext cx="566928" cy="566928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39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236975"/>
            <a:ext cx="10543032" cy="713232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36975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Clear the slow hand-offs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36975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Repair orders waiting for QA · stock receipts after closing orders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60520"/>
            <a:ext cx="566928" cy="566928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105656"/>
            <a:ext cx="10543032" cy="713232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0565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Connect machines (later)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0565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SCADA signals as facts; people still give the reasons and the NG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029200"/>
            <a:ext cx="566928" cy="566928"/>
          </a:xfrm>
          <a:prstGeom prst="ellipse">
            <a:avLst/>
          </a:prstGeom>
          <a:solidFill>
            <a:srgbClr val="C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974336"/>
            <a:ext cx="10543032" cy="713232"/>
          </a:xfrm>
          <a:prstGeom prst="roundRect">
            <a:avLst/>
          </a:prstGeom>
          <a:solidFill>
            <a:srgbClr val="EC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97433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Roll out to other plants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7433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5F2D"/>
                </a:solidFill>
                <a:latin typeface="Tahoma"/>
              </a:rPr>
              <a:t>Same system, own data — start with Production + MTN, then add departments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ahoma"/>
              </a:rPr>
              <a:t>Record once. Everyone sees it.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EBD9B0"/>
                </a:solidFill>
                <a:latin typeface="Tahoma"/>
              </a:rPr>
              <a:t>Real-time  ·  Less work  ·  Easy to use  ·  Lower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EBD9B0"/>
                </a:solidFill>
                <a:latin typeface="Tahoma"/>
              </a:rPr>
              <a:t>Thank you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