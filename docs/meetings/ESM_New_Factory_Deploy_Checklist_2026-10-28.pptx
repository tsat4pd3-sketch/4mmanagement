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เปิด: ถ้าโรงงานอื่นในกลุ่มอยากใช้ ESM ต้องเตรียมอะไร — คำตอบสั้นๆ คือ 3 ส่วน: ที่ตั้งระบบ · ปรับโปรแกรมให้เป็นของโรงงานนั้น · ข้อมูลของโรงงาน</a:t>
            </a:r>
          </a:p>
          <a:p>
            <a:r>
              <a:t>ส่วนที่นานที่สุดไม่ใช่ฝั่ง IT แต่เป็นข้อมูลจากโรงงาน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เปรียบเทียบให้เห็นภาพ: โปรแกรมเป็นแบบบ้าน ใช้ร่วมกันได้ — ปรับปรุงที่ TSAT แล้วโรงงานอื่นได้ด้วย</a:t>
            </a:r>
          </a:p>
          <a:p>
            <a:r>
              <a:t>แต่ตู้เซฟ (ฐานข้อมูล) กุญแจ (บัญชีผู้ใช้) และของในบ้าน (คน ไลน์ เครื่องจักร สินค้า) ต้องแยกกันเด็ดขาด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ส่วน 3 เจ้าภาพ — IT เตรียมที่ตั้งระบบ, ทีม ESM ปรับโปรแกรม, โรงงานใหม่เตรียมข้อมูลของตัวเอง</a:t>
            </a:r>
          </a:p>
          <a:p>
            <a:r>
              <a:t>ส่วนที่ 1-2 ทำได้ในไม่กี่วัน ส่วนที่ 3 ขึ้นกับความพร้อมข้อมูลของโรงงาน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ฝั่ง IT: เปิดที่เก็บข้อมูลใหม่ 2 ชุด (แบบเดียวกับ TSAT ห้ามรวมเป็นชุดเดียว — ชุดข้อมูลผลิตเปิดอ่านกว้างกว่า)</a:t>
            </a:r>
          </a:p>
          <a:p>
            <a:r>
              <a:t>ค่าใช้จ่ายอ้างอิงยอดที่ TSAT ชำระจริง 11 ต.ค. = $36.70/เดือน · ที่วางหน้าเว็บใช้ของฟรีหรือ server บริษัทได้</a:t>
            </a:r>
          </a:p>
          <a:p>
            <a:r>
              <a:t>รายละเอียดเทคนิคอยู่ภาคผนวกท้ายเด็ค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สิ่งที่ฝังเป็นของ TSAT อยู่ในโปรแกรม: ชื่อ/โลโก้, เลขฟอร์ม, และที่สำคัญคือปลายทางแจ้งเตือน</a:t>
            </a:r>
          </a:p>
          <a:p>
            <a:r>
              <a:t>ตอนนี้มี 5 หน้าจอ (เช็คชื่อ · รายงานผลิต · ใบแจ้งซ่อม · ใบตรวจ PM · แผน PM) ที่ส่งแจ้งเตือนตรงเข้าระบบ TSAT</a:t>
            </a:r>
          </a:p>
          <a:p>
            <a:r>
              <a:t>ถ้าไม่แก้ก่อน โรงงานใหม่กดแจ้งซ่อม แจ้งเตือนจะเด้งมาที่ TSAT — ทีม ESM แก้ให้อ่านจากการตั้งค่าแทน ทำครั้งเดียวใช้ได้ทุกโรง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ลำดับสำคัญ: ไม่มีผังองค์กร = ผูกไลน์ไม่ได้ · ไม่มีไลน์ = ผูกพนักงานไม่ได้ · ไม่มีพนักงาน = สร้างผู้ใช้ไม่ได้</a:t>
            </a:r>
          </a:p>
          <a:p>
            <a:r>
              <a:t>ชื่อเจ้าของข้อมูลด้านล่างแต่ละขั้น = คนที่ต้องยืนยันว่าข้อมูลถูก (ลงชื่อ + วันที่)</a:t>
            </a:r>
          </a:p>
          <a:p>
            <a:r>
              <a:t>"เวลาผลิตต่อครั้ง" = เวลาปั๊ม/ผลิต 1 จังหวะ (ไม่ใช่ต่อชิ้น) — งานคู่ซ้าย/ขวาต้องบอกด้วยว่าเป็นคู่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เรื่องพวกนี้เปิดทีละโมดูลตามความพร้อม ไม่ต้องรอครบทั้งหมด</a:t>
            </a:r>
          </a:p>
          <a:p>
            <a:r>
              <a:t>หลักที่ใช้ที่ TSAT: ทำไลน์ตัวอย่าง 1-2 ไลน์ให้ข้อมูลเชื่อมกันครบทุกเรื่องก่อน ดีกว่ามีข้อมูลกว้างแต่ไม่เชื่อมกัน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ตัวอย่างจริงที่ TSAT: เลขเครื่องเขียน 2 แบบ ทำให้กราฟแตกเป็น 2 แท่งทั้งที่เป็นเครื่องเดียวกัน</a:t>
            </a:r>
          </a:p>
          <a:p>
            <a:r>
              <a:t>ใส่ 0 แทนการเว้นว่าง ทำให้ระบบเข้าใจว่า 'รู้แล้วว่าเป็นศูนย์' ตัวเลข OEE เพี้ยน</a:t>
            </a:r>
          </a:p>
          <a:p>
            <a:r>
              <a:t>งานปั๊มคู่ซ้าย/ขวา ปั๊มครั้งเดียวได้ 2 ชิ้น — ถ้าให้เวลาต่อชิ้น เวลามาตรฐานจะผิด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(1) ห้ามใช้ฐานข้อมูลร่วม — ระบบไม่มีกำแพงกั้นระหว่างโรงงานในข้อมูลชุดเดียว</a:t>
            </a:r>
          </a:p>
          <a:p>
            <a:r>
              <a:t>(2) ปลายทางแจ้งเตือนต้องแก้ก่อนเปิดใช้ (3) ใช้โปรแกรมชุดเดียว ปรับด้วยการตั้งค่า ไม่แตกเป็นคนละชุด</a:t>
            </a:r>
          </a:p>
          <a:p>
            <a:r>
              <a:t>(4) อัปเดตหลังเลิกกะ — บทเรียนจริง 26/10 ที่ TSAT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สัปดาห์เป็นข้อเสนอเบื้องต้น ถ้าข้อมูลโรงงานพร้อมเร็ว เปิดไลน์นำร่องได้เร็วขึ้น</a:t>
            </a:r>
          </a:p>
          <a:p>
            <a:r>
              <a:t>สัปดาห์ 1-2 ทำขนานกับการเก็บข้อมูลได้ — อย่ารอให้ระบบเสร็จก่อนค่อยเริ่มเก็บข้อมูล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สำหรับทีม IT เท่านั้น — ไม่ต้องนำเสนอในที่ประชุมทั่วไป</a:t>
            </a:r>
          </a:p>
          <a:p>
            <a:r>
              <a:t>env ฝั่งเว็บ: VITE_SUPABASE_URL / _ANON_KEY / _DR_URL / _DR_KEY · edge secrets: DR_URL, DR_ANON_KEY, CRON_SECRET, INGEST_SECRET, CLEANUP_TOKEN, TELEGRAM_* (ถ้าใช้), ANTHROPIC_API_KEY (ถ้าใช้)</a:t>
            </a:r>
          </a:p>
          <a:p>
            <a:r>
              <a:t>ทุก key ต้องออกใหม่ ห้ามใช้ของ TSAT ซ้ำ · รายละเอียด deploy: docs/modules/deploy.md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56032"/>
            <a:ext cx="1143000" cy="114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17904"/>
            <a:ext cx="11091672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50" b="1" i="0">
                <a:solidFill>
                  <a:srgbClr val="068734"/>
                </a:solidFill>
                <a:latin typeface="Tahoma"/>
              </a:rPr>
              <a:t>ขยาย ESM ไปโรงงานใหม่ — ต้องเตรียมอะไรบ้าง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91672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D95323"/>
                </a:solidFill>
                <a:latin typeface="Tahoma"/>
              </a:rPr>
              <a:t>โปรแกรมชุดเดียวกัน · ข้อมูลของใครของมัน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670048"/>
            <a:ext cx="8531352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Enterprise Shopfloor Management (ESM)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Thai Summit Group · ตุลาคม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3959352"/>
            <a:ext cx="578815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1">
                <a:solidFill>
                  <a:srgbClr val="068734"/>
                </a:solidFill>
                <a:latin typeface="Tahoma"/>
              </a:rPr>
              <a:t>My Quality Declaration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43484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“I will not accept, produce and deliver non-quality work”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84632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“ผมจะไม่รับ, ไม่ทำและไม่ส่งมอบงานที่ไม่มีคุณภาพ”</a:t>
            </a:r>
          </a:p>
        </p:txBody>
      </p:sp>
      <p:pic>
        <p:nvPicPr>
          <p:cNvPr id="9" name="Picture 8" descr="title_a.jpg"/>
          <p:cNvPicPr>
            <a:picLocks noChangeAspect="1"/>
          </p:cNvPicPr>
          <p:nvPr/>
        </p:nvPicPr>
        <p:blipFill>
          <a:blip r:embed="rId3"/>
          <a:srcRect l="118" r="118"/>
          <a:stretch>
            <a:fillRect/>
          </a:stretch>
        </p:blipFill>
        <p:spPr>
          <a:xfrm>
            <a:off x="4434840" y="5577840"/>
            <a:ext cx="1920240" cy="1161288"/>
          </a:xfrm>
          <a:prstGeom prst="rect">
            <a:avLst/>
          </a:prstGeom>
        </p:spPr>
      </p:pic>
      <p:pic>
        <p:nvPicPr>
          <p:cNvPr id="10" name="Picture 9" descr="title_b.jpg"/>
          <p:cNvPicPr>
            <a:picLocks noChangeAspect="1"/>
          </p:cNvPicPr>
          <p:nvPr/>
        </p:nvPicPr>
        <p:blipFill>
          <a:blip r:embed="rId4"/>
          <a:srcRect l="4710" r="4710"/>
          <a:stretch>
            <a:fillRect/>
          </a:stretch>
        </p:blipFill>
        <p:spPr>
          <a:xfrm>
            <a:off x="6473952" y="5577840"/>
            <a:ext cx="1856231" cy="1152144"/>
          </a:xfrm>
          <a:prstGeom prst="rect">
            <a:avLst/>
          </a:prstGeom>
        </p:spPr>
      </p:pic>
      <p:pic>
        <p:nvPicPr>
          <p:cNvPr id="11" name="Picture 10" descr="title_c.jpg"/>
          <p:cNvPicPr>
            <a:picLocks noChangeAspect="1"/>
          </p:cNvPicPr>
          <p:nvPr/>
        </p:nvPicPr>
        <p:blipFill>
          <a:blip r:embed="rId5"/>
          <a:srcRect l="15297" r="15297"/>
          <a:stretch>
            <a:fillRect/>
          </a:stretch>
        </p:blipFill>
        <p:spPr>
          <a:xfrm>
            <a:off x="8439912" y="5550408"/>
            <a:ext cx="1847088" cy="1188720"/>
          </a:xfrm>
          <a:prstGeom prst="rect">
            <a:avLst/>
          </a:prstGeom>
        </p:spPr>
      </p:pic>
      <p:pic>
        <p:nvPicPr>
          <p:cNvPr id="12" name="Picture 11" descr="title_d.jpg"/>
          <p:cNvPicPr>
            <a:picLocks noChangeAspect="1"/>
          </p:cNvPicPr>
          <p:nvPr/>
        </p:nvPicPr>
        <p:blipFill>
          <a:blip r:embed="rId6"/>
          <a:srcRect t="8086" b="8086"/>
          <a:stretch>
            <a:fillRect/>
          </a:stretch>
        </p:blipFill>
        <p:spPr>
          <a:xfrm>
            <a:off x="10405872" y="5577840"/>
            <a:ext cx="1847088" cy="11612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350" b="1" i="0">
                <a:solidFill>
                  <a:srgbClr val="068734"/>
                </a:solidFill>
                <a:latin typeface="Tahoma"/>
              </a:rPr>
              <a:t>เหมือนสร้างบ้านหลังใหม่ จากแบบบ้านเดิม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1" i="0">
                <a:solidFill>
                  <a:srgbClr val="068734"/>
                </a:solidFill>
                <a:latin typeface="Tahoma"/>
              </a:rPr>
              <a:t>ใช้แบบเดียวกัน แต่ของในบ้าน กุญแจ และตู้เซฟ เป็นของเจ้าของบ้านแต่ละหลัง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91640"/>
            <a:ext cx="3657600" cy="30175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6576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D3D14"/>
                </a:solidFill>
                <a:latin typeface="Tahoma"/>
              </a:rPr>
              <a:t>TSAT (ใช้อยู่)</a:t>
            </a:r>
          </a:p>
        </p:txBody>
      </p:sp>
      <p:sp>
        <p:nvSpPr>
          <p:cNvPr id="9" name="Oval 8"/>
          <p:cNvSpPr/>
          <p:nvPr/>
        </p:nvSpPr>
        <p:spPr>
          <a:xfrm>
            <a:off x="1051560" y="2423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23160"/>
            <a:ext cx="91440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068734"/>
                </a:solidFill>
                <a:latin typeface="Segoe UI Emoji"/>
              </a:rPr>
              <a:t>🗄️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99" y="3429000"/>
            <a:ext cx="11887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68734"/>
                </a:solidFill>
                <a:latin typeface="Tahoma"/>
              </a:rPr>
              <a:t>ตู้เซฟข้อมูล</a:t>
            </a:r>
          </a:p>
        </p:txBody>
      </p:sp>
      <p:sp>
        <p:nvSpPr>
          <p:cNvPr id="12" name="Oval 11"/>
          <p:cNvSpPr/>
          <p:nvPr/>
        </p:nvSpPr>
        <p:spPr>
          <a:xfrm>
            <a:off x="2194560" y="2423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2423160"/>
            <a:ext cx="91440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068734"/>
                </a:solidFill>
                <a:latin typeface="Segoe UI Emoji"/>
              </a:rPr>
              <a:t>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429000"/>
            <a:ext cx="11887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68734"/>
                </a:solidFill>
                <a:latin typeface="Tahoma"/>
              </a:rPr>
              <a:t>กุญแจ / ผู้ใช้</a:t>
            </a:r>
          </a:p>
        </p:txBody>
      </p:sp>
      <p:sp>
        <p:nvSpPr>
          <p:cNvPr id="15" name="Oval 14"/>
          <p:cNvSpPr/>
          <p:nvPr/>
        </p:nvSpPr>
        <p:spPr>
          <a:xfrm>
            <a:off x="3337560" y="2423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2423160"/>
            <a:ext cx="91440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068734"/>
                </a:solidFill>
                <a:latin typeface="Segoe UI Emoji"/>
              </a:rPr>
              <a:t>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429000"/>
            <a:ext cx="11887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68734"/>
                </a:solidFill>
                <a:latin typeface="Tahoma"/>
              </a:rPr>
              <a:t>คน · ไลน์ · เครื่อง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08392" y="1691640"/>
            <a:ext cx="3657600" cy="3017520"/>
          </a:xfrm>
          <a:prstGeom prst="roundRect">
            <a:avLst/>
          </a:prstGeom>
          <a:solidFill>
            <a:srgbClr val="F6CCBE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08392" y="1783080"/>
            <a:ext cx="36576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D3D14"/>
                </a:solidFill>
                <a:latin typeface="Tahoma"/>
              </a:rPr>
              <a:t>โรงงานใหม่</a:t>
            </a:r>
          </a:p>
        </p:txBody>
      </p:sp>
      <p:sp>
        <p:nvSpPr>
          <p:cNvPr id="20" name="Oval 19"/>
          <p:cNvSpPr/>
          <p:nvPr/>
        </p:nvSpPr>
        <p:spPr>
          <a:xfrm>
            <a:off x="7936992" y="2423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6992" y="2423160"/>
            <a:ext cx="91440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068734"/>
                </a:solidFill>
                <a:latin typeface="Segoe UI Emoji"/>
              </a:rPr>
              <a:t>🗄️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9831" y="3429000"/>
            <a:ext cx="11887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68734"/>
                </a:solidFill>
                <a:latin typeface="Tahoma"/>
              </a:rPr>
              <a:t>ตู้เซฟข้อมูล</a:t>
            </a:r>
          </a:p>
        </p:txBody>
      </p:sp>
      <p:sp>
        <p:nvSpPr>
          <p:cNvPr id="23" name="Oval 22"/>
          <p:cNvSpPr/>
          <p:nvPr/>
        </p:nvSpPr>
        <p:spPr>
          <a:xfrm>
            <a:off x="9079992" y="2423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9992" y="2423160"/>
            <a:ext cx="91440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068734"/>
                </a:solidFill>
                <a:latin typeface="Segoe UI Emoji"/>
              </a:rPr>
              <a:t>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3429000"/>
            <a:ext cx="11887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68734"/>
                </a:solidFill>
                <a:latin typeface="Tahoma"/>
              </a:rPr>
              <a:t>กุญแจ / ผู้ใช้</a:t>
            </a:r>
          </a:p>
        </p:txBody>
      </p:sp>
      <p:sp>
        <p:nvSpPr>
          <p:cNvPr id="26" name="Oval 25"/>
          <p:cNvSpPr/>
          <p:nvPr/>
        </p:nvSpPr>
        <p:spPr>
          <a:xfrm>
            <a:off x="10222992" y="2423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2992" y="2423160"/>
            <a:ext cx="91440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068734"/>
                </a:solidFill>
                <a:latin typeface="Segoe UI Emoji"/>
              </a:rPr>
              <a:t>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85832" y="3429000"/>
            <a:ext cx="1188720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68734"/>
                </a:solidFill>
                <a:latin typeface="Tahoma"/>
              </a:rPr>
              <a:t>คน · ไลน์ · เครื่อง</a:t>
            </a:r>
          </a:p>
        </p:txBody>
      </p:sp>
      <p:sp>
        <p:nvSpPr>
          <p:cNvPr id="29" name="Oval 28"/>
          <p:cNvSpPr/>
          <p:nvPr/>
        </p:nvSpPr>
        <p:spPr>
          <a:xfrm>
            <a:off x="5184648" y="178308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84648" y="1783080"/>
            <a:ext cx="1828800" cy="1828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6000" b="0" i="0">
                <a:solidFill>
                  <a:srgbClr val="068734"/>
                </a:solidFill>
                <a:latin typeface="Segoe UI Emoji"/>
              </a:rPr>
              <a:t>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3703320"/>
            <a:ext cx="2679192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95323"/>
                </a:solidFill>
                <a:latin typeface="Tahoma"/>
              </a:rPr>
              <a:t>แบบบ้าน = โปรแกรม ESM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ใช้ร่วมกัน แก้ที่เดียว ได้ทุกโรง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17720" y="2468880"/>
            <a:ext cx="502920" cy="457200"/>
          </a:xfrm>
          <a:prstGeom prst="rightArrow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ight Arrow 32"/>
          <p:cNvSpPr/>
          <p:nvPr/>
        </p:nvSpPr>
        <p:spPr>
          <a:xfrm>
            <a:off x="7086600" y="2468880"/>
            <a:ext cx="502920" cy="457200"/>
          </a:xfrm>
          <a:prstGeom prst="rightArrow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5029200"/>
            <a:ext cx="10543032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029200"/>
            <a:ext cx="1054303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Tahoma"/>
              </a:rPr>
              <a:t>ข้อมูลไม่ปนกัน · คนโรงงานหนึ่งมองไม่เห็นข้อมูลอีกโรงงาน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ต้องเตรียม 3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แต่ละส่วนมีเจ้าภาพชัดเจน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429000" cy="3931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3D14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4208" y="1828800"/>
            <a:ext cx="1371600" cy="13716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4208" y="1828800"/>
            <a:ext cx="1371600" cy="13716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500" b="0" i="0">
                <a:solidFill>
                  <a:srgbClr val="068734"/>
                </a:solidFill>
                <a:latin typeface="Segoe UI Emoji"/>
              </a:rPr>
              <a:t>🖥️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34290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D3D14"/>
                </a:solidFill>
                <a:latin typeface="Tahoma"/>
              </a:rPr>
              <a:t>① ที่ตั้งระบบ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840480"/>
            <a:ext cx="1965960" cy="384048"/>
          </a:xfrm>
          <a:prstGeom prst="round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196596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Tahoma"/>
              </a:rPr>
              <a:t>เจ้าภาพ: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2971800" cy="1005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พื้นที่เก็บข้อมูล · ที่อยู่เว็บ · เข้าจากมือถือได้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00200"/>
            <a:ext cx="3429000" cy="3931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68734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13248" y="1828800"/>
            <a:ext cx="1371600" cy="13716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13248" y="1828800"/>
            <a:ext cx="1371600" cy="13716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500" b="0" i="0">
                <a:solidFill>
                  <a:srgbClr val="068734"/>
                </a:solidFill>
                <a:latin typeface="Segoe UI Emoji"/>
              </a:rPr>
              <a:t>🛠️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337560"/>
            <a:ext cx="34290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68734"/>
                </a:solidFill>
                <a:latin typeface="Tahoma"/>
              </a:rPr>
              <a:t>② ปรับโปรแกรม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3840480"/>
            <a:ext cx="1965960" cy="384048"/>
          </a:xfrm>
          <a:prstGeom prst="round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3840480"/>
            <a:ext cx="196596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Tahoma"/>
              </a:rPr>
              <a:t>เจ้าภาพ: ทีม ESM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389120"/>
            <a:ext cx="2971800" cy="1005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เปลี่ยนชื่อ โลโก้ ฟอร์ม ให้เป็นของโรงงานใหม่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59" y="1600200"/>
            <a:ext cx="3429000" cy="3931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5323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62288" y="1828800"/>
            <a:ext cx="1371600" cy="137160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62288" y="1828800"/>
            <a:ext cx="1371600" cy="13716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500" b="0" i="0">
                <a:solidFill>
                  <a:srgbClr val="068734"/>
                </a:solidFill>
                <a:latin typeface="Segoe UI Emoji"/>
              </a:rPr>
              <a:t>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3337560"/>
            <a:ext cx="34290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③ ข้อมูลโรงงาน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0" y="3840480"/>
            <a:ext cx="1965960" cy="384048"/>
          </a:xfrm>
          <a:prstGeom prst="round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0" y="3840480"/>
            <a:ext cx="196596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Tahoma"/>
              </a:rPr>
              <a:t>เจ้าภาพ: โรงงานใหม่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4389120"/>
            <a:ext cx="2971800" cy="1005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068734"/>
                </a:solidFill>
                <a:latin typeface="Tahoma"/>
              </a:rPr>
              <a:t>ผังองค์กร · คน · ไลน์ · เครื่องจักร · สินค้า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9728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95323"/>
                </a:solidFill>
                <a:latin typeface="Tahoma"/>
              </a:rPr>
              <a:t>⏱  ส่วนที่ ③ ใช้เวลานานที่สุด — ควรเริ่มเก็บข้อมูลตั้งแต่วันแรก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① ที่ตั้งระบบ — IT เตรียม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เปิดบัญชีใหม่ทั้งหมด ไม่ใช้ของ TSAT ร่วม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566160" cy="2148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35661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34743" y="1764792"/>
            <a:ext cx="902512" cy="902512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4743" y="1764792"/>
            <a:ext cx="902512" cy="9025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900" b="0" i="0">
                <a:solidFill>
                  <a:srgbClr val="068734"/>
                </a:solidFill>
                <a:latin typeface="Segoe UI Emoji"/>
              </a:rPr>
              <a:t>🗄️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77032"/>
            <a:ext cx="33832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ตู้เก็บข้อมูล 2 ใบ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ข้อมูลคน · ข้อมูลผลิต (แยกกันเหมือน TSAT)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508760"/>
            <a:ext cx="3566160" cy="2148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508760"/>
            <a:ext cx="35661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29503" y="1764792"/>
            <a:ext cx="902512" cy="902512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9503" y="1764792"/>
            <a:ext cx="902512" cy="9025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900" b="0" i="0">
                <a:solidFill>
                  <a:srgbClr val="068734"/>
                </a:solidFill>
                <a:latin typeface="Segoe UI Emoji"/>
              </a:rPr>
              <a:t>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777032"/>
            <a:ext cx="33832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ที่อยู่เว็บใหม่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เช่น esm-ชื่อโรงงาน + ใบรับรองความปลอดภัย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508760"/>
            <a:ext cx="3566160" cy="2148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508760"/>
            <a:ext cx="35661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24263" y="1764792"/>
            <a:ext cx="902512" cy="902512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24263" y="1764792"/>
            <a:ext cx="902512" cy="9025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900" b="0" i="0">
                <a:solidFill>
                  <a:srgbClr val="068734"/>
                </a:solidFill>
                <a:latin typeface="Segoe UI Emoji"/>
              </a:rPr>
              <a:t>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777032"/>
            <a:ext cx="33832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เข้าได้จากมือถือ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ทั้งในโรงงานและนอกโรงงาน (4G/5G)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840479"/>
            <a:ext cx="3566160" cy="2148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840479"/>
            <a:ext cx="35661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34743" y="4096511"/>
            <a:ext cx="902512" cy="902512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34743" y="4096511"/>
            <a:ext cx="902512" cy="9025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900" b="0" i="0">
                <a:solidFill>
                  <a:srgbClr val="068734"/>
                </a:solidFill>
                <a:latin typeface="Segoe UI Emoji"/>
              </a:rPr>
              <a:t>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108752"/>
            <a:ext cx="33832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ช่องแจ้งเตือน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แจ้งในแอปเป็นหลัก · Telegram ถ้าต้องการ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840479"/>
            <a:ext cx="3566160" cy="2148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3840479"/>
            <a:ext cx="35661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29503" y="4096511"/>
            <a:ext cx="902512" cy="902512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29503" y="4096511"/>
            <a:ext cx="902512" cy="9025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900" b="0" i="0">
                <a:solidFill>
                  <a:srgbClr val="068734"/>
                </a:solidFill>
                <a:latin typeface="Segoe UI Emoji"/>
              </a:rPr>
              <a:t>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108752"/>
            <a:ext cx="33832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สำรองข้อมูล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ตั้งสำรองอัตโนมัติ + ซ้อมกู้คืน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3840479"/>
            <a:ext cx="3566160" cy="2148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2440" y="3840479"/>
            <a:ext cx="3566160" cy="91440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24263" y="4096511"/>
            <a:ext cx="902512" cy="902512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24263" y="4096511"/>
            <a:ext cx="902512" cy="9025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900" b="0" i="0">
                <a:solidFill>
                  <a:srgbClr val="068734"/>
                </a:solidFill>
                <a:latin typeface="Segoe UI Emoji"/>
              </a:rPr>
              <a:t>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5108752"/>
            <a:ext cx="33832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ค่าใช้จ่าย ≈ $37 / เดือน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อ้างอิงที่ TSAT จ่ายจริง (ค่าที่เก็บข้อมูล)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68734"/>
                </a:solidFill>
                <a:latin typeface="Tahoma"/>
              </a:rPr>
              <a:t>② ปรับโปรแกรม — ถอดป้าย TSAT ออก ติดป้ายโรงงานใหม่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ทีม ESM ทำ · ต้องเสร็จก่อนเปิดใช้ ไม่งั้นข้อมูลไหลผิดโรง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65176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0160" y="1874519"/>
            <a:ext cx="1097280" cy="10972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1874519"/>
            <a:ext cx="1097280" cy="10972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0" i="0">
                <a:solidFill>
                  <a:srgbClr val="068734"/>
                </a:solidFill>
                <a:latin typeface="Segoe UI Emoji"/>
              </a:rPr>
              <a:t>🏷️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868680" cy="365760"/>
          </a:xfrm>
          <a:prstGeom prst="round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54680"/>
            <a:ext cx="86868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TSAT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719072" y="3200400"/>
            <a:ext cx="274320" cy="274320"/>
          </a:xfrm>
          <a:prstGeom prst="rightArrow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020824" y="3154680"/>
            <a:ext cx="868680" cy="365760"/>
          </a:xfrm>
          <a:prstGeom prst="round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0824" y="3154680"/>
            <a:ext cx="86868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ใหม่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57600"/>
            <a:ext cx="246888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ชื่อ + โลโก้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บนจอ ไอคอนแอป ใบพิมพ์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645920"/>
            <a:ext cx="265176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33087" y="1874519"/>
            <a:ext cx="1097280" cy="10972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33087" y="1874519"/>
            <a:ext cx="1097280" cy="10972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0" i="0">
                <a:solidFill>
                  <a:srgbClr val="068734"/>
                </a:solidFill>
                <a:latin typeface="Segoe UI Emoji"/>
              </a:rPr>
              <a:t>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75887" y="3154680"/>
            <a:ext cx="868680" cy="365760"/>
          </a:xfrm>
          <a:prstGeom prst="round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3154680"/>
            <a:ext cx="86868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TSAT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572000" y="3200400"/>
            <a:ext cx="274320" cy="274320"/>
          </a:xfrm>
          <a:prstGeom prst="rightArrow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73752" y="3154680"/>
            <a:ext cx="868680" cy="365760"/>
          </a:xfrm>
          <a:prstGeom prst="round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3752" y="3154680"/>
            <a:ext cx="86868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ใหม่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7288" y="3657600"/>
            <a:ext cx="246888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เลขฟอร์มเอกสาร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เลข FM / Rev ของโรงงานใหม่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08776" y="1645920"/>
            <a:ext cx="265176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86016" y="1874519"/>
            <a:ext cx="1097280" cy="10972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86016" y="1874519"/>
            <a:ext cx="1097280" cy="10972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0" i="0">
                <a:solidFill>
                  <a:srgbClr val="068734"/>
                </a:solidFill>
                <a:latin typeface="Segoe UI Emoji"/>
              </a:rPr>
              <a:t>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28816" y="3154680"/>
            <a:ext cx="868680" cy="365760"/>
          </a:xfrm>
          <a:prstGeom prst="round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3154680"/>
            <a:ext cx="86868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TSAT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424928" y="3200400"/>
            <a:ext cx="274320" cy="274320"/>
          </a:xfrm>
          <a:prstGeom prst="rightArrow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726679" y="3154680"/>
            <a:ext cx="868680" cy="365760"/>
          </a:xfrm>
          <a:prstGeom prst="round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3154680"/>
            <a:ext cx="86868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ใหม่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3657600"/>
            <a:ext cx="246888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ปลายทางแจ้งเตือน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ให้วิ่งเข้าโรงงานใหม่ ไม่ใช่ TSAT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61704" y="1645920"/>
            <a:ext cx="265176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38944" y="1874519"/>
            <a:ext cx="1097280" cy="10972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38944" y="1874519"/>
            <a:ext cx="1097280" cy="10972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0" i="0">
                <a:solidFill>
                  <a:srgbClr val="068734"/>
                </a:solidFill>
                <a:latin typeface="Segoe UI Emoji"/>
              </a:rPr>
              <a:t>⚙️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81744" y="3154680"/>
            <a:ext cx="868680" cy="365760"/>
          </a:xfrm>
          <a:prstGeom prst="round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3154680"/>
            <a:ext cx="86868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TSAT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0277856" y="3200400"/>
            <a:ext cx="274320" cy="274320"/>
          </a:xfrm>
          <a:prstGeom prst="rightArrow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579608" y="3154680"/>
            <a:ext cx="868680" cy="365760"/>
          </a:xfrm>
          <a:prstGeom prst="round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79608" y="3154680"/>
            <a:ext cx="86868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Tahoma"/>
              </a:rPr>
              <a:t>ใหม่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144" y="3657600"/>
            <a:ext cx="246888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ค่าที่เป็นของ TSAT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เช่น รหัสคลัง · ไลน์ตัวอย่าง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074920"/>
            <a:ext cx="1120140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074920"/>
            <a:ext cx="112014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Tahoma"/>
              </a:rPr>
              <a:t>⚠  ปลายทางแจ้งเตือนสำคัญที่สุด — ตอนนี้ยังชี้มาที่ TSAT ใน 5 หน้าจอ ต้องแก้ก่อน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r01.jpg"/>
          <p:cNvPicPr>
            <a:picLocks noChangeAspect="1"/>
          </p:cNvPicPr>
          <p:nvPr/>
        </p:nvPicPr>
        <p:blipFill>
          <a:blip r:embed="rId2"/>
          <a:srcRect t="7768" b="7768"/>
          <a:stretch>
            <a:fillRect/>
          </a:stretch>
        </p:blipFill>
        <p:spPr>
          <a:xfrm>
            <a:off x="5413248" y="0"/>
            <a:ext cx="677570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45720" y="0"/>
            <a:ext cx="55778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V="1">
            <a:off x="5532120" y="0"/>
            <a:ext cx="1197864" cy="6858000"/>
          </a:xfrm>
          <a:prstGeom prst="rt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377440"/>
            <a:ext cx="5394960" cy="17373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68734"/>
                </a:solidFill>
                <a:latin typeface="Tahoma"/>
              </a:rPr>
              <a:t>③ ข้อมูลที่โรงงานใหม่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ต้องเตรียม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68734"/>
                </a:solidFill>
                <a:latin typeface="Tahoma"/>
              </a:rPr>
              <a:t>ข้อมูลที่ต้องมีก่อนวันแรก — ลงจากขั้นล่างขึ้นบน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ขั้นล่างเป็นฐานของขั้นบน ข้ามขั้นไม่ได้ · ส่งเป็น Excel ตามแม่แบบที่ทีม ESM ให้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572000"/>
            <a:ext cx="1572768" cy="1417319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4572000"/>
            <a:ext cx="1572768" cy="73152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6384" y="365760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3657600"/>
            <a:ext cx="82296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068734"/>
                </a:solidFill>
                <a:latin typeface="Segoe UI Emoji"/>
              </a:rPr>
              <a:t>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09160"/>
            <a:ext cx="148132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1. ผังองค์กร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5120640"/>
            <a:ext cx="1426464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ฝ่าย · แผนก · ทีม · Cost Center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23560"/>
            <a:ext cx="148132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HR / บัญชี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9968" y="4133087"/>
            <a:ext cx="1572768" cy="1856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29968" y="4133087"/>
            <a:ext cx="1572768" cy="73152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04872" y="3218687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04872" y="3218687"/>
            <a:ext cx="82296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068734"/>
                </a:solidFill>
                <a:latin typeface="Segoe UI Emoji"/>
              </a:rPr>
              <a:t>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5688" y="4270248"/>
            <a:ext cx="148132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2. ไลน์ผลิต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681727"/>
            <a:ext cx="1426464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ชื่อไลน์ · คนมาตรฐานต่อกะ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5623560"/>
            <a:ext cx="148132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ฝ่ายผลิต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48456" y="3694176"/>
            <a:ext cx="1572768" cy="229514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48456" y="3694176"/>
            <a:ext cx="1572768" cy="73152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23360" y="2779776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2779776"/>
            <a:ext cx="82296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068734"/>
                </a:solidFill>
                <a:latin typeface="Segoe UI Emoji"/>
              </a:rPr>
              <a:t>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4176" y="3831336"/>
            <a:ext cx="148132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3. พนักงาน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21608" y="4242816"/>
            <a:ext cx="1426464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รหัส · ชื่อ · ทีม · รูปถ่าย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4176" y="5623560"/>
            <a:ext cx="148132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HR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3255264"/>
            <a:ext cx="1572768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3255264"/>
            <a:ext cx="1572768" cy="73152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41848" y="2340864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41848" y="2340864"/>
            <a:ext cx="82296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068734"/>
                </a:solidFill>
                <a:latin typeface="Segoe UI Emoji"/>
              </a:rPr>
              <a:t>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12664" y="3392424"/>
            <a:ext cx="148132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4. ผู้ใช้ระบบ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0096" y="3803904"/>
            <a:ext cx="1426464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ใครใช้ · ดูแลส่วนไหน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12664" y="5623560"/>
            <a:ext cx="148132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หัวหน้าส่วน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85432" y="2816352"/>
            <a:ext cx="1572768" cy="317296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85432" y="2816352"/>
            <a:ext cx="1572768" cy="73152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260336" y="1901952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60336" y="1901952"/>
            <a:ext cx="82296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068734"/>
                </a:solidFill>
                <a:latin typeface="Segoe UI Emoji"/>
              </a:rPr>
              <a:t>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953512"/>
            <a:ext cx="148132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5. ปฏิทิน + กะ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8584" y="3364992"/>
            <a:ext cx="1426464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วันหยุด · OT · เวลาพัก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31152" y="5623560"/>
            <a:ext cx="148132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HR / ผลิต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03919" y="2377440"/>
            <a:ext cx="1572768" cy="361187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503919" y="2377440"/>
            <a:ext cx="1572768" cy="73152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878824" y="146304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78824" y="1463040"/>
            <a:ext cx="82296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068734"/>
                </a:solidFill>
                <a:latin typeface="Segoe UI Emoji"/>
              </a:rPr>
              <a:t>⚙️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2514600"/>
            <a:ext cx="148132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6. เครื่องจักร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77072" y="2926080"/>
            <a:ext cx="1426464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เลขเครื่อง · อยู่ไลน์ไหน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5623560"/>
            <a:ext cx="148132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ซ่อมบำรุง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22408" y="1938528"/>
            <a:ext cx="1572768" cy="4050791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22408" y="1938528"/>
            <a:ext cx="1572768" cy="73152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497312" y="1024128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97312" y="1024128"/>
            <a:ext cx="82296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700" b="0" i="0">
                <a:solidFill>
                  <a:srgbClr val="068734"/>
                </a:solidFill>
                <a:latin typeface="Segoe UI Emoji"/>
              </a:rPr>
              <a:t>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68128" y="2075688"/>
            <a:ext cx="148132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D3D14"/>
                </a:solidFill>
                <a:latin typeface="Tahoma"/>
              </a:rPr>
              <a:t>7. สินค้า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95560" y="2487168"/>
            <a:ext cx="1426464" cy="7315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รหัส · ลูกค้า · เวลาผลิตต่อครั้ง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68128" y="5623560"/>
            <a:ext cx="148132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95323"/>
                </a:solidFill>
                <a:latin typeface="Tahoma"/>
              </a:rPr>
              <a:t>PE / วางแผน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068734"/>
                </a:solidFill>
                <a:latin typeface="Tahoma"/>
              </a:rPr>
              <a:t>ข้อมูลที่เติมทีหลัง — เปิดเรื่องไหน เตรียมเรื่องนั้น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68734"/>
                </a:solidFill>
                <a:latin typeface="Tahoma"/>
              </a:rPr>
              <a:t>ไม่ต้องครบวันแรก · เริ่มที่ไลน์นำร่อง 1–2 ไลน์ให้ใช้ได้จริงก่อน แล้วค่อยขยาย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265176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26517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7144" y="1764792"/>
            <a:ext cx="883310" cy="88331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7144" y="1764792"/>
            <a:ext cx="883310" cy="88331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0" i="0">
                <a:solidFill>
                  <a:srgbClr val="068734"/>
                </a:solidFill>
                <a:latin typeface="Segoe UI Emoji"/>
              </a:rPr>
              <a:t>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57830"/>
            <a:ext cx="24688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BOM / ขั้นตอนผลิต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508760"/>
            <a:ext cx="265176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5848" y="1508760"/>
            <a:ext cx="26517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40072" y="1764792"/>
            <a:ext cx="883310" cy="88331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40072" y="1764792"/>
            <a:ext cx="883310" cy="88331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0" i="0">
                <a:solidFill>
                  <a:srgbClr val="068734"/>
                </a:solidFill>
                <a:latin typeface="Segoe UI Emoji"/>
              </a:rPr>
              <a:t>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2757830"/>
            <a:ext cx="24688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ลูกค้า / ผู้ส่งของ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Logistic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1508760"/>
            <a:ext cx="265176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8776" y="1508760"/>
            <a:ext cx="26517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93000" y="1764792"/>
            <a:ext cx="883310" cy="88331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3000" y="1764792"/>
            <a:ext cx="883310" cy="88331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0" i="0">
                <a:solidFill>
                  <a:srgbClr val="068734"/>
                </a:solidFill>
                <a:latin typeface="Segoe UI Emoji"/>
              </a:rPr>
              <a:t>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757830"/>
            <a:ext cx="24688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แม่พิมพ์ · จิ๊ก · อะไหล่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DIE / JIG / สโตร์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1704" y="1508760"/>
            <a:ext cx="265176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1704" y="1508760"/>
            <a:ext cx="26517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45928" y="1764792"/>
            <a:ext cx="883310" cy="88331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45928" y="1764792"/>
            <a:ext cx="883310" cy="88331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0" i="0">
                <a:solidFill>
                  <a:srgbClr val="068734"/>
                </a:solidFill>
                <a:latin typeface="Segoe UI Emoj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2757830"/>
            <a:ext cx="24688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แผนซ่อมบำรุง (PM)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ซ่อมบำรุง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794760"/>
            <a:ext cx="265176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794760"/>
            <a:ext cx="26517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87144" y="4050792"/>
            <a:ext cx="883310" cy="88331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87144" y="4050792"/>
            <a:ext cx="883310" cy="88331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0" i="0">
                <a:solidFill>
                  <a:srgbClr val="068734"/>
                </a:solidFill>
                <a:latin typeface="Segoe UI Emoji"/>
              </a:rP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043830"/>
            <a:ext cx="24688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ตรวจคุณภาพ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QA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55848" y="3794760"/>
            <a:ext cx="265176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55848" y="3794760"/>
            <a:ext cx="26517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240072" y="4050792"/>
            <a:ext cx="883310" cy="88331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0072" y="4050792"/>
            <a:ext cx="883310" cy="88331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0" i="0">
                <a:solidFill>
                  <a:srgbClr val="068734"/>
                </a:solidFill>
                <a:latin typeface="Segoe UI Emoji"/>
              </a:rPr>
              <a:t>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47288" y="5043830"/>
            <a:ext cx="24688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KPI / เป้าหมาย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ผู้บริหาร / บัญชี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08776" y="3794760"/>
            <a:ext cx="265176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08776" y="3794760"/>
            <a:ext cx="26517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93000" y="4050792"/>
            <a:ext cx="883310" cy="88331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93000" y="4050792"/>
            <a:ext cx="883310" cy="88331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0" i="0">
                <a:solidFill>
                  <a:srgbClr val="068734"/>
                </a:solidFill>
                <a:latin typeface="Segoe UI Emoji"/>
              </a:rPr>
              <a:t>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5043830"/>
            <a:ext cx="24688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PPE / ความปลอดภัย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Safety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61704" y="3794760"/>
            <a:ext cx="265176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61704" y="3794760"/>
            <a:ext cx="2651760" cy="9144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945928" y="4050792"/>
            <a:ext cx="883310" cy="88331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45928" y="4050792"/>
            <a:ext cx="883310" cy="88331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0" i="0">
                <a:solidFill>
                  <a:srgbClr val="068734"/>
                </a:solidFill>
                <a:latin typeface="Segoe UI Emoji"/>
              </a:rPr>
              <a:t>🗂️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53144" y="5043830"/>
            <a:ext cx="2468879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68734"/>
                </a:solidFill>
                <a:latin typeface="Tahoma"/>
              </a:rPr>
              <a:t>ทะเบียนเอกสาร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55555"/>
                </a:solidFill>
                <a:latin typeface="Tahoma"/>
              </a:rPr>
              <a:t>Document Control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068734"/>
                </a:solidFill>
                <a:latin typeface="Tahoma"/>
              </a:rPr>
              <a:t>เตรียมข้อมูลให้ถูกตั้งแต่แรก — ไม่ต้องตามแก้ทีหลัง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ทุกข้อเคยเกิดจริงที่ TSAT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26517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เลขเครื่องเขียนแบบเดียว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48840"/>
            <a:ext cx="2651760" cy="15087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265176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068734"/>
                </a:solidFill>
                <a:latin typeface="Segoe UI Emoji"/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26080"/>
            <a:ext cx="24688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SW10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40480"/>
            <a:ext cx="2651760" cy="1508760"/>
          </a:xfrm>
          <a:prstGeom prst="roundRect">
            <a:avLst/>
          </a:prstGeom>
          <a:solidFill>
            <a:srgbClr val="F6C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931920"/>
            <a:ext cx="265176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D95323"/>
                </a:solidFill>
                <a:latin typeface="Segoe UI Emoji"/>
              </a:rPr>
              <a:t>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617720"/>
            <a:ext cx="24688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D95323"/>
                </a:solidFill>
                <a:latin typeface="Tahoma"/>
              </a:rPr>
              <a:t>SW-10 · sw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554480"/>
            <a:ext cx="26517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ไม่รู้ = เว้นว่าง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2148840"/>
            <a:ext cx="2651760" cy="15087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2240280"/>
            <a:ext cx="265176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068734"/>
                </a:solidFill>
                <a:latin typeface="Segoe UI Emoji"/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7288" y="2926080"/>
            <a:ext cx="24688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(ว่าง)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3840480"/>
            <a:ext cx="2651760" cy="1508760"/>
          </a:xfrm>
          <a:prstGeom prst="roundRect">
            <a:avLst/>
          </a:prstGeom>
          <a:solidFill>
            <a:srgbClr val="F6C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3931920"/>
            <a:ext cx="265176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D95323"/>
                </a:solidFill>
                <a:latin typeface="Segoe UI Emoji"/>
              </a:rPr>
              <a:t>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4617720"/>
            <a:ext cx="24688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D95323"/>
                </a:solidFill>
                <a:latin typeface="Tahoma"/>
              </a:rPr>
              <a:t>0 · “อื่นๆ”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8776" y="1554480"/>
            <a:ext cx="26517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เวลาผลิต = ต่อ 1 ครั้ง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148840"/>
            <a:ext cx="2651760" cy="15087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08776" y="2240280"/>
            <a:ext cx="265176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068734"/>
                </a:solidFill>
                <a:latin typeface="Segoe UI Emoji"/>
              </a:rPr>
              <a:t>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926080"/>
            <a:ext cx="24688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12 วิ / ครั้ง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08776" y="3840480"/>
            <a:ext cx="2651760" cy="1508760"/>
          </a:xfrm>
          <a:prstGeom prst="roundRect">
            <a:avLst/>
          </a:prstGeom>
          <a:solidFill>
            <a:srgbClr val="F6C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08776" y="3931920"/>
            <a:ext cx="265176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D95323"/>
                </a:solidFill>
                <a:latin typeface="Segoe UI Emoji"/>
              </a:rPr>
              <a:t>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4617720"/>
            <a:ext cx="24688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D95323"/>
                </a:solidFill>
                <a:latin typeface="Tahoma"/>
              </a:rPr>
              <a:t>6 วิ / ชิ้น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61704" y="1554480"/>
            <a:ext cx="26517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ข้อมูลของโรงงานเอง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61704" y="2148840"/>
            <a:ext cx="2651760" cy="15087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61704" y="2240280"/>
            <a:ext cx="265176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068734"/>
                </a:solidFill>
                <a:latin typeface="Segoe UI Emoji"/>
              </a:rP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3144" y="2926080"/>
            <a:ext cx="24688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ของโรงงานใหม่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61704" y="3840480"/>
            <a:ext cx="2651760" cy="1508760"/>
          </a:xfrm>
          <a:prstGeom prst="roundRect">
            <a:avLst/>
          </a:prstGeom>
          <a:solidFill>
            <a:srgbClr val="F6C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61704" y="3931920"/>
            <a:ext cx="2651760" cy="6858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0" i="0">
                <a:solidFill>
                  <a:srgbClr val="D95323"/>
                </a:solidFill>
                <a:latin typeface="Segoe UI Emoji"/>
              </a:rPr>
              <a:t>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3144" y="4617720"/>
            <a:ext cx="24688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D95323"/>
                </a:solidFill>
                <a:latin typeface="Tahoma"/>
              </a:rPr>
              <a:t>ก๊อปจาก TSAT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623560"/>
            <a:ext cx="1124712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68734"/>
                </a:solidFill>
                <a:latin typeface="Tahoma"/>
              </a:rPr>
              <a:t>🔒  ข้อมูลพนักงานและรูปถ่าย ใช้ตามนโยบายข้อมูลส่วนบุคคล (PDPA) ของโรงงานนั้น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4 เรื่องที่ห้ามทำ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พลาดแล้วแก้ยาก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406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1143000" cy="1143000"/>
          </a:xfrm>
          <a:prstGeom prst="ellipse">
            <a:avLst/>
          </a:prstGeom>
          <a:solidFill>
            <a:srgbClr val="F6C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1143000" cy="11430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700" b="0" i="0">
                <a:solidFill>
                  <a:srgbClr val="068734"/>
                </a:solidFill>
                <a:latin typeface="Segoe UI Emoji"/>
              </a:rPr>
              <a:t>🗄️</a:t>
            </a:r>
          </a:p>
        </p:txBody>
      </p:sp>
      <p:sp>
        <p:nvSpPr>
          <p:cNvPr id="10" name="Oval 9"/>
          <p:cNvSpPr/>
          <p:nvPr/>
        </p:nvSpPr>
        <p:spPr>
          <a:xfrm>
            <a:off x="1600200" y="1874519"/>
            <a:ext cx="411480" cy="411480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874519"/>
            <a:ext cx="41148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920240"/>
            <a:ext cx="3611880" cy="13716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D3D14"/>
                </a:solidFill>
                <a:latin typeface="Tahoma"/>
              </a:rPr>
              <a:t>ใช้ที่เก็บข้อมูลร่วมกับ TSAT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555"/>
                </a:solidFill>
                <a:latin typeface="Tahoma"/>
              </a:rPr>
              <a:t>ข้อมูลสองโรงปนกันทันที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4406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1965960"/>
            <a:ext cx="1143000" cy="1143000"/>
          </a:xfrm>
          <a:prstGeom prst="ellipse">
            <a:avLst/>
          </a:prstGeom>
          <a:solidFill>
            <a:srgbClr val="F6C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965960"/>
            <a:ext cx="1143000" cy="11430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700" b="0" i="0">
                <a:solidFill>
                  <a:srgbClr val="068734"/>
                </a:solidFill>
                <a:latin typeface="Segoe UI Emoji"/>
              </a:rPr>
              <a:t>🔔</a:t>
            </a:r>
          </a:p>
        </p:txBody>
      </p:sp>
      <p:sp>
        <p:nvSpPr>
          <p:cNvPr id="16" name="Oval 15"/>
          <p:cNvSpPr/>
          <p:nvPr/>
        </p:nvSpPr>
        <p:spPr>
          <a:xfrm>
            <a:off x="7269480" y="1874519"/>
            <a:ext cx="411480" cy="411480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1874519"/>
            <a:ext cx="41148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920240"/>
            <a:ext cx="3611880" cy="13716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D3D14"/>
                </a:solidFill>
                <a:latin typeface="Tahoma"/>
              </a:rPr>
              <a:t>เปิดใช้ก่อนแก้ปลายทางแจ้งเตือน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555"/>
                </a:solidFill>
                <a:latin typeface="Tahoma"/>
              </a:rPr>
              <a:t>แจ้งเตือนโรงงานใหม่เด้งมาที่ TSAT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49039"/>
            <a:ext cx="54406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4160520"/>
            <a:ext cx="1143000" cy="1143000"/>
          </a:xfrm>
          <a:prstGeom prst="ellipse">
            <a:avLst/>
          </a:prstGeom>
          <a:solidFill>
            <a:srgbClr val="F6C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0520"/>
            <a:ext cx="1143000" cy="11430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700" b="0" i="0">
                <a:solidFill>
                  <a:srgbClr val="068734"/>
                </a:solidFill>
                <a:latin typeface="Segoe UI Emoji"/>
              </a:rPr>
              <a:t>🍴</a:t>
            </a:r>
          </a:p>
        </p:txBody>
      </p:sp>
      <p:sp>
        <p:nvSpPr>
          <p:cNvPr id="22" name="Oval 21"/>
          <p:cNvSpPr/>
          <p:nvPr/>
        </p:nvSpPr>
        <p:spPr>
          <a:xfrm>
            <a:off x="1600200" y="4069079"/>
            <a:ext cx="411480" cy="411480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4069079"/>
            <a:ext cx="41148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114800"/>
            <a:ext cx="3611880" cy="13716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D3D14"/>
                </a:solidFill>
                <a:latin typeface="Tahoma"/>
              </a:rPr>
              <a:t>แยกโปรแกรมออกเป็นคนละชุด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555"/>
                </a:solidFill>
                <a:latin typeface="Tahoma"/>
              </a:rPr>
              <a:t>แก้ปัญหาที่ TSAT แล้ว โรงใหม่ไม่ได้ด้วย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749039"/>
            <a:ext cx="54406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6520" y="4160520"/>
            <a:ext cx="1143000" cy="1143000"/>
          </a:xfrm>
          <a:prstGeom prst="ellipse">
            <a:avLst/>
          </a:prstGeom>
          <a:solidFill>
            <a:srgbClr val="F6C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160520"/>
            <a:ext cx="1143000" cy="11430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700" b="0" i="0">
                <a:solidFill>
                  <a:srgbClr val="068734"/>
                </a:solidFill>
                <a:latin typeface="Segoe UI Emoji"/>
              </a:rPr>
              <a:t>⏰</a:t>
            </a:r>
          </a:p>
        </p:txBody>
      </p:sp>
      <p:sp>
        <p:nvSpPr>
          <p:cNvPr id="28" name="Oval 27"/>
          <p:cNvSpPr/>
          <p:nvPr/>
        </p:nvSpPr>
        <p:spPr>
          <a:xfrm>
            <a:off x="7269480" y="4069079"/>
            <a:ext cx="411480" cy="411480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4069079"/>
            <a:ext cx="41148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114800"/>
            <a:ext cx="3611880" cy="13716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D3D14"/>
                </a:solidFill>
                <a:latin typeface="Tahoma"/>
              </a:rPr>
              <a:t>อัปเดตระบบในเวลาทำงาน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555"/>
                </a:solidFill>
                <a:latin typeface="Tahoma"/>
              </a:rPr>
              <a:t>จอที่เปิดค้างพังพร้อมกันทุกเครื่อง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แผนเปิดใช้ 5 สัปดาห์ (ข้อเสนอ)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เริ่มจากไลน์นำร่อง แล้วขยายทีละกลุ่ม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11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600200"/>
            <a:ext cx="1188720" cy="118872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188720" cy="11887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900" b="0" i="0">
                <a:solidFill>
                  <a:srgbClr val="068734"/>
                </a:solidFill>
                <a:latin typeface="Segoe UI Emoji"/>
              </a:rPr>
              <a:t>🖥️</a:t>
            </a:r>
          </a:p>
        </p:txBody>
      </p:sp>
      <p:sp>
        <p:nvSpPr>
          <p:cNvPr id="9" name="Pentagon 8"/>
          <p:cNvSpPr/>
          <p:nvPr/>
        </p:nvSpPr>
        <p:spPr>
          <a:xfrm>
            <a:off x="411480" y="3017520"/>
            <a:ext cx="2194560" cy="640080"/>
          </a:xfrm>
          <a:prstGeom prst="homePlate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182880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สัปดาห์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794760"/>
            <a:ext cx="219456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เตรียมระบบ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IT + ทีม ESM</a:t>
            </a:r>
          </a:p>
        </p:txBody>
      </p:sp>
      <p:sp>
        <p:nvSpPr>
          <p:cNvPr id="12" name="Oval 11"/>
          <p:cNvSpPr/>
          <p:nvPr/>
        </p:nvSpPr>
        <p:spPr>
          <a:xfrm>
            <a:off x="3200400" y="1600200"/>
            <a:ext cx="1188720" cy="118872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600200"/>
            <a:ext cx="1188720" cy="11887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900" b="0" i="0">
                <a:solidFill>
                  <a:srgbClr val="068734"/>
                </a:solidFill>
                <a:latin typeface="Segoe UI Emoji"/>
              </a:rPr>
              <a:t>🛠️</a:t>
            </a:r>
          </a:p>
        </p:txBody>
      </p:sp>
      <p:sp>
        <p:nvSpPr>
          <p:cNvPr id="14" name="Chevron 13"/>
          <p:cNvSpPr/>
          <p:nvPr/>
        </p:nvSpPr>
        <p:spPr>
          <a:xfrm>
            <a:off x="2697480" y="3017520"/>
            <a:ext cx="2194560" cy="6400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3017520"/>
            <a:ext cx="182880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สัปดาห์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3794760"/>
            <a:ext cx="219456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ปรับโปรแกรม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ทีม ESM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0" y="1600200"/>
            <a:ext cx="1188720" cy="118872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600200"/>
            <a:ext cx="1188720" cy="11887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900" b="0" i="0">
                <a:solidFill>
                  <a:srgbClr val="068734"/>
                </a:solidFill>
                <a:latin typeface="Segoe UI Emoji"/>
              </a:rPr>
              <a:t>📋</a:t>
            </a:r>
          </a:p>
        </p:txBody>
      </p:sp>
      <p:sp>
        <p:nvSpPr>
          <p:cNvPr id="19" name="Chevron 18"/>
          <p:cNvSpPr/>
          <p:nvPr/>
        </p:nvSpPr>
        <p:spPr>
          <a:xfrm>
            <a:off x="4983480" y="3017520"/>
            <a:ext cx="2194560" cy="6400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3017520"/>
            <a:ext cx="182880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สัปดาห์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794760"/>
            <a:ext cx="219456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ลงข้อมูลหลัก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โรงงานใหม่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0" y="1600200"/>
            <a:ext cx="1188720" cy="1188720"/>
          </a:xfrm>
          <a:prstGeom prst="ellipse">
            <a:avLst/>
          </a:prstGeom>
          <a:solidFill>
            <a:srgbClr val="F6C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1600200"/>
            <a:ext cx="1188720" cy="11887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900" b="0" i="0">
                <a:solidFill>
                  <a:srgbClr val="068734"/>
                </a:solidFill>
                <a:latin typeface="Segoe UI Emoji"/>
              </a:rPr>
              <a:t>🚩</a:t>
            </a:r>
          </a:p>
        </p:txBody>
      </p:sp>
      <p:sp>
        <p:nvSpPr>
          <p:cNvPr id="24" name="Chevron 23"/>
          <p:cNvSpPr/>
          <p:nvPr/>
        </p:nvSpPr>
        <p:spPr>
          <a:xfrm>
            <a:off x="7269480" y="3017520"/>
            <a:ext cx="2194560" cy="640080"/>
          </a:xfrm>
          <a:prstGeom prst="chevron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79" y="3017520"/>
            <a:ext cx="182880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สัปดาห์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794760"/>
            <a:ext cx="219456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D95323"/>
                </a:solidFill>
                <a:latin typeface="Tahoma"/>
              </a:rPr>
              <a:t>ไลน์นำร่อง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ใช้จริง 1–2 ไลน์</a:t>
            </a:r>
          </a:p>
        </p:txBody>
      </p:sp>
      <p:sp>
        <p:nvSpPr>
          <p:cNvPr id="27" name="Oval 26"/>
          <p:cNvSpPr/>
          <p:nvPr/>
        </p:nvSpPr>
        <p:spPr>
          <a:xfrm>
            <a:off x="10058400" y="1600200"/>
            <a:ext cx="1188720" cy="118872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1600200"/>
            <a:ext cx="1188720" cy="11887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900" b="0" i="0">
                <a:solidFill>
                  <a:srgbClr val="068734"/>
                </a:solidFill>
                <a:latin typeface="Segoe UI Emoji"/>
              </a:rPr>
              <a:t>🚀</a:t>
            </a:r>
          </a:p>
        </p:txBody>
      </p:sp>
      <p:sp>
        <p:nvSpPr>
          <p:cNvPr id="29" name="Chevron 28"/>
          <p:cNvSpPr/>
          <p:nvPr/>
        </p:nvSpPr>
        <p:spPr>
          <a:xfrm>
            <a:off x="9555480" y="3017520"/>
            <a:ext cx="2194560" cy="6400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3017520"/>
            <a:ext cx="182880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สัปดาห์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5480" y="3794760"/>
            <a:ext cx="2194560" cy="9144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D3D14"/>
                </a:solidFill>
                <a:latin typeface="Tahoma"/>
              </a:rPr>
              <a:t>ขยายทั้งโรง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เปิด PM / QA / KPI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120640"/>
            <a:ext cx="1133856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5120640"/>
            <a:ext cx="113385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Tahoma"/>
              </a:rPr>
              <a:t>ส่งแม่แบบ Excel ให้โรงงานใหม่ตั้งแต่สัปดาห์ที่ 1 — ข้อมูลคือตัวกำหนดวันเปิดใช้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ภาคผนวก — รายละเอียดสำหรับทีม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หน้าเดียวที่มีศัพท์เทคนิค · นับจากโค้ดจริง 28 ต.ค. 2569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54480"/>
            <a:ext cx="3639312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54480"/>
            <a:ext cx="3639312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3639312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ที่ตั้งระบบ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3383280" cy="3749039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Supabase 2 projects: MAIN + DR (ห้ามรวม — DR เปิด anon)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Static hosting: Render หรือ nginx/IIS + TLS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Auth: ปิด sign-up · สร้างผู้ใช้ผ่าน /add-user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Backup / PITR + ซ้อมกู้คืน 1 ครั้ง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554480"/>
            <a:ext cx="3639312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554480"/>
            <a:ext cx="3639312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33672" y="1554480"/>
            <a:ext cx="3639312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ฐานข้อมูล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2103120"/>
            <a:ext cx="3383280" cy="3749039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Schema-only dump จาก MAIN / DR (migration 707 ไฟล์ ติดป้ายฝั่งไม่ครบ)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RLS + has_perm() · seed role_permissions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Realtime publication · pg_cron · Storage 15 buckets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Edge functions 24 ตัว + secrets ชุดใหม่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3" y="1554480"/>
            <a:ext cx="3639312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5863" y="1554480"/>
            <a:ext cx="3639312" cy="420624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55863" y="1554480"/>
            <a:ext cx="3639312" cy="4206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Tahoma"/>
              </a:rPr>
              <a:t>โค้ดที่ต้องแก้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3" y="2103120"/>
            <a:ext cx="3383280" cy="3749039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URL send-notification ฝังใน 5 หน้า → อ่าน env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supabaseClient: DR fallback → ไม่มี env = หยุด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SchemaMap + edge fn 5 ตัว มี project id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68734"/>
                </a:solidFill>
                <a:latin typeface="Tahoma"/>
              </a:rPr>
              <a:t>•  ชื่อ/โลโก้/manifest → config แบรนด์ต่อโรงงาน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79776"/>
            <a:ext cx="10552176" cy="6492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500" b="1" i="0">
                <a:solidFill>
                  <a:srgbClr val="068734"/>
                </a:solidFill>
                <a:latin typeface="Tahoma"/>
              </a:rPr>
              <a:t>Before We Build Parts, We Build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11880"/>
            <a:ext cx="105521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โปรแกรมเดียวกัน · ข้อมูลของใครของมัน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60520"/>
            <a:ext cx="105521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68734"/>
                </a:solidFill>
                <a:latin typeface="Tahoma"/>
              </a:rPr>
              <a:t>ขอบคุณ  ·  ถาม-ตอบ</a:t>
            </a:r>
          </a:p>
        </p:txBody>
      </p:sp>
      <p:pic>
        <p:nvPicPr>
          <p:cNvPr id="5" name="Picture 4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