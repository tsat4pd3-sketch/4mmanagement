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068734"/>
                </a:solidFill>
                <a:latin typeface="Tahoma"/>
              </a:rPr>
              <a:t>เช็คลิสต์ Deploy ESM ให้โรงงานใหม่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ระบบชุดใหม่ · ผู้ใช้ชุดใหม่ · ฐานข้อมูลแยกขาดจาก TSAT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Enterprise Shopfloor Management (ESM)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Thai Summit Group · 28 ต.ค.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My Quality Declaration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หัวข้อ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ต้องเตรียมอะไร และต้องเตรียมข้อมูลอะไรบ้าง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1764792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1.   ภาพรวมสิ่งที่ต้องสร้างใหม่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48840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เว็บ 1 ชุด + Supabase 2 โปรเจค + ตัวแจ้งเตือน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2606040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2.   เตรียมโครงสร้างพื้นฐาน + บัญชี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8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Supabase · Hosting · Domain · GitHub ·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447288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3.   เตรียมฐานข้อมูล + โค้ดที่ต้องแก้ก่อน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831336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schema · RLS · edge function · ค่าที่ฝังไว้ในโค้ด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4288536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4.   ข้อมูลที่โรงงานใหม่ต้องเตรียม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72584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ทะเบียนหลัก — เรียงตามลำดับที่ต้องลงก่อน-หลัง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129784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5.   ข้อควรระวัง + แผนงาน 5 สัปดาห์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513832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สิ่งที่ห้ามทำ · ลำดับขึ้นระบบ · ผู้รับผิดชอบ</a:t>
            </a:r>
          </a:p>
        </p:txBody>
      </p:sp>
      <p:pic>
        <p:nvPicPr>
          <p:cNvPr id="14" name="Picture 1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ภาพรวม — ต้องสร้างอะไรใหม่บ้าง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ต่อ 1 โรงงาน = 1 ชุดเต็ม แยกขาดจากชุด TSAT (ไม่แชร์ข้อมูล ไม่แชร์ผู้ใช้)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517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51760" cy="50292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26517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🌐 เว็บแอป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286000" cy="2011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build จาก repo เดียวกัน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ตั้ง env ชี้ฐานข้อมูลใหม่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Render หรือ server บริษัท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45920"/>
            <a:ext cx="26517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645920"/>
            <a:ext cx="2651760" cy="50292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645920"/>
            <a:ext cx="26517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🗄️ Supabase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86000"/>
            <a:ext cx="2286000" cy="2011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ผู้ใช้ / login / สิทธิ์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พนักงาน · ไลน์ · ผังองค์กร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4M · CQI-15 ·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6517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45920"/>
            <a:ext cx="2651760" cy="50292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645920"/>
            <a:ext cx="26517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🏭 Supabase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286000"/>
            <a:ext cx="2286000" cy="2011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ข้อมูลผลิตรายกะ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เครื่อง · แม่พิมพ์ · พาร์ท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downtime · ของเสีย · PM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645920"/>
            <a:ext cx="265176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984" y="1645920"/>
            <a:ext cx="2651760" cy="50292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645920"/>
            <a:ext cx="265176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🔔 แจ้งเตือน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3" y="2286000"/>
            <a:ext cx="2286000" cy="2011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edge function 24 ตัว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งานตั้งเวลา (pg_cron)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Telegram bot (ถ้าใช้)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124712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24712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Tahoma"/>
              </a:rPr>
              <a:t>ต้องใช้ Supabase 2 โปรเจคเหมือนเดิม — ห้ามยุบเป็นโปรเจคเดียว (ฝั่ง DR เปิด anon ทั้งโปรเจค)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8734"/>
                </a:solidFill>
                <a:latin typeface="Tahoma"/>
              </a:rPr>
              <a:t>ค่าใช้จ่ายอ้างอิงจากชุด TSAT: </a:t>
            </a:r>
            <a:r>
              <a:rPr sz="1400" b="0" i="0">
                <a:solidFill>
                  <a:srgbClr val="555555"/>
                </a:solidFill>
                <a:latin typeface="Tahoma"/>
              </a:rPr>
              <a:t>Supabase Pro ≈ $37/เดือน (2 โปรเจค Micro) · Render Static Site ฟรี (มีโควตานาที build) · ย้ายเข้า server บริษัทได้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50" b="1" i="0">
                <a:solidFill>
                  <a:srgbClr val="068734"/>
                </a:solidFill>
                <a:latin typeface="Tahoma"/>
              </a:rPr>
              <a:t>① โครงสร้างพื้นฐาน + บัญชีที่ต้องเปิด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ฝั่ง IT / ผู้ดูแลระบบ — ทำได้ก่อนข้อมูลจากโรงงานมาถึง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36576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3383280" cy="3931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Organization + บัตรจ่ายเงิน (Pro)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โปรเจค MAIN (region สิงคโปร์)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โปรเจค DR แยกอีกตัว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เก็บ URL + anon key + service key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ตั้งชื่อในจอให้ไม่ชนชุด TSAT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เปิด backup / PITR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554480"/>
            <a:ext cx="36576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55448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Hosting +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84831"/>
            <a:ext cx="3383280" cy="3931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Render Static Site ใหม่ หรือ nginx/IIS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โดเมนย่อย เช่น esm-xxx.&lt;บริษัท&gt;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ใบรับรอง TLS (https)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มือถือ 4G/5G นอกโรงงานต้องเข้าได้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ตั้ง SPA redirect (public/_redirects)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หน้าต่าง deploy นอกเวลากะ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554480"/>
            <a:ext cx="365760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9016" y="155448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6" y="155448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Repo + ช่องทางแจ้งเตือน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084831"/>
            <a:ext cx="3383280" cy="3931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ตัดสินใจ: repo เดียว + config ต่อโรงงาน (แนะนำ) หรือ fork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GitHub Actions deploy ของโรงงานใหม่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Telegram bot + group id (ถ้าใช้)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ANTHROPIC_API_KEY (ฟีเจอร์ AI · ถ้าใช้)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☐  ผู้ดูแลระบบฝั่งโรงงาน 1-2 คน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50" b="1" i="0">
                <a:solidFill>
                  <a:srgbClr val="068734"/>
                </a:solidFill>
                <a:latin typeface="Tahoma"/>
              </a:rPr>
              <a:t>② ฐานข้อมูล — สร้างโครงสร้างให้ตรงกับชุด TSAT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สร้าง schema เปล่า (ไม่มีข้อมูล) ให้ครบทั้ง 2 โปรเจค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74320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รายการ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508760"/>
            <a:ext cx="566928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1508760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รายละเอียด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508760"/>
            <a:ext cx="292608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508760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หมายเหตุ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8424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1984248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ตาราง + view + 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984248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9544" y="1984248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dump โครงสร้างจาก MAIN / DR ปัจจุบัน (schema-only)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98424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1984248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แนะนำแทนการไล่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59736"/>
            <a:ext cx="2743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459736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migration 707 ไฟล์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459736"/>
            <a:ext cx="56692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9544" y="2459736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ติดป้าย _main / _dr แค่ ~280 ไฟล์ — ไล่รันใหม่เสี่ยงลงผิดฝั่ง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2459736"/>
            <a:ext cx="2926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78824" y="2459736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ใช้เป็นประวัติอ้างอิง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3522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35224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RLS + has_perm()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2935224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2935224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policy ทุกตาราง · ฝั่ง DR ต้องเป็น anon เหมือนเดิม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2935224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78824" y="2935224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ห้ามเปลี่ยนเป็น authenticated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10712"/>
            <a:ext cx="2743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410712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role_permissions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3410712"/>
            <a:ext cx="56692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9544" y="3410712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ชุดสิทธิ์ตั้งต้น (seed) — คัดลอกจาก TSAT ได้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410712"/>
            <a:ext cx="2926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78824" y="3410712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ข้อมูลตั้งค่า ไม่ใช่ข้อมูลผลิต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8620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886200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 publication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886200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9544" y="3886200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ตารางตาม src/utils/realtimeTables.js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388620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8824" y="3886200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ขาด = จอไม่อัปเดตเงียบ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361688"/>
            <a:ext cx="2743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361688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pg_cron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4361688"/>
            <a:ext cx="56692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9544" y="4361688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งานตั้งเวลาใน 16 migration (สแกน PM / downtime / สรุปรายวัน)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4361688"/>
            <a:ext cx="2926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8824" y="4361688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ต้องชี้ URL โปรเจคใหม่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837175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837175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Storage 15 bucket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4837175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9544" y="4837175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employee-photos · four-m-images · mtn-images · jig-images · signatures ฯลฯ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4837175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8824" y="4837175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ตั้ง public/private ให้ตรง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312663"/>
            <a:ext cx="2743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312663"/>
            <a:ext cx="26334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Auth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5312663"/>
            <a:ext cx="56692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9544" y="5312663"/>
            <a:ext cx="55595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ปิด sign-up เอง · ผู้ใช้สร้างผ่าน /add-user (edge create-user)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5312663"/>
            <a:ext cx="2926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78824" y="5312663"/>
            <a:ext cx="2816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ระบบไม่ส่งอีเมล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③ โค้ดที่ต้องแก้ก่อน deploy ชุดที่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068734"/>
                </a:solidFill>
                <a:latin typeface="Tahoma"/>
              </a:rPr>
              <a:t>ปัจจุบันบางจุดผูกกับ TSAT ตรงๆ — ไม่แก้ = โรงงานใหม่ยิงข้อมูลเข้าฐาน TSAT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108960" cy="530352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จุด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5029200" cy="530352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508760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ปัญหา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508760"/>
            <a:ext cx="3200400" cy="530352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1508760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ทางแก้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39112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039112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URL edge function ฝังตาย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039112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2039112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Checkin · DailyReport · MtnRepair · PMCheckData · PMSchedule เรียก ewhdfq… ตรง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039112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2039112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อ่านจาก VITE_SUPABASE_URL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69464"/>
            <a:ext cx="3108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569464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DR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569464"/>
            <a:ext cx="5029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569464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supabaseClient.js ถอยไป eyhclz… ถ้าไม่ตั้ง env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569464"/>
            <a:ext cx="32004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4" y="2569464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ไม่มี env = หยุด ห้ามถอย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099816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099816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หน้า /schema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099816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3099816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SchemaMap.jsx ระบุ project id ตายตัว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099816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504" y="3099816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อ่านจาก env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630168"/>
            <a:ext cx="3108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630168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Edge function 5 ตัว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630168"/>
            <a:ext cx="5029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5304" y="3630168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pm-plan-reminder · cleanup-orphan-photos · kanban-round-scan ฯลฯ มี id ในโค้ด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3630168"/>
            <a:ext cx="32004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3630168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ใช้ DR_URL secret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160520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4160520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ชื่อ / โลโก้ / ไอคอน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20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5304" y="4160520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manifest · thai-summit-logo.svg · ข้อความ ~38 ไฟล์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4160520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4160520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รวมเป็นไฟล์ config แบรนด์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690872"/>
            <a:ext cx="3108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690872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ทะเบียนเอกสาร /doc-forms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690872"/>
            <a:ext cx="5029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5304" y="4690872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เลขฟอร์ม · Rev · โลโก้ ของ TSAT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690872"/>
            <a:ext cx="32004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04504" y="4690872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โรงงานใหม่ลงทะเบียนเอง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221224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5221224"/>
            <a:ext cx="299923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ค่าเฉพาะ TSAT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221224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75304" y="5221224"/>
            <a:ext cx="49194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SLoc (P411) · ไลน์ต้นแบบ 060/061 · เด็คธีม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5221224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4504" y="5221224"/>
            <a:ext cx="3090672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ไล่ตรวจก่อนขึ้นระบบ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50" b="1" i="0">
                <a:solidFill>
                  <a:srgbClr val="068734"/>
                </a:solidFill>
                <a:latin typeface="Tahoma"/>
              </a:rPr>
              <a:t>④ ค่าตั้งค่า (env) + secrets ที่ต้องเตรียม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เก็บในที่ปลอดภัย — ห้ามใส่ใน repo / แชท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93192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ชื่อ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219456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508760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ตั้งที่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508760"/>
            <a:ext cx="521208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1508760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ใช้ทำอะไร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84248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1984248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VITE_SUPABASE_URL / _ANON_KEY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84248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984248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Hosting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984248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1984248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เว็บต่อ MAIN (login + ข้อมูลคน)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59736"/>
            <a:ext cx="39319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459736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VITE_SUPABASE_DR_URL / _DR_KEY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59736"/>
            <a:ext cx="21945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2459736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Hosting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459736"/>
            <a:ext cx="5212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2459736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เว็บต่อ DR (ข้อมูลผลิต)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3522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35224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SUPABASE_URL / SERVICE_ROLE_KEY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935224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935224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(อัตโนมัติ)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935224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2935224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function เขียนข้ามสิทธิ์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10712"/>
            <a:ext cx="39319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410712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DR_URL / DR_ANON_KEY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410712"/>
            <a:ext cx="21945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8264" y="3410712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410712"/>
            <a:ext cx="5212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3410712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function ฝั่ง MAIN อ่าน DR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86200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886200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CRON_SECRET / INGEST_SECRET / CLEANUP_TOKEN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88620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8264" y="3886200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secrets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886200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2824" y="3886200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กันคนนอกยิงงานตั้งเวลา / นำเข้า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361688"/>
            <a:ext cx="39319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361688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TELEGRAM_BOT_TOKEN / CHAT_ID / WEBHOOK_SECRET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361688"/>
            <a:ext cx="21945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8264" y="4361688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secrets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4361688"/>
            <a:ext cx="52120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4361688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แจ้งเตือน Telegram (ไม่บังคับ)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837175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837175"/>
            <a:ext cx="38221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ANTHROPIC_API_KEY / AI_INTAKE_CHAT_IDS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4837175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8264" y="4837175"/>
            <a:ext cx="208483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Edge secrets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60" y="4837175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4837175"/>
            <a:ext cx="510235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ฟีเจอร์ AI รับงาน (ไม่บังคับ)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ใหม่ทั้งหมด — ห้ามใช้ key ของชุด TSAT ซ้ำ (หลุด 1 ชุดต้องไม่ลามไปอีกชุด)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r01.jpg"/>
          <p:cNvPicPr>
            <a:picLocks noChangeAspect="1"/>
          </p:cNvPicPr>
          <p:nvPr/>
        </p:nvPicPr>
        <p:blipFill>
          <a:blip r:embed="rId2"/>
          <a:srcRect t="7768" b="7768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5394960" cy="17373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950" b="1" i="0">
                <a:solidFill>
                  <a:srgbClr val="068734"/>
                </a:solidFill>
                <a:latin typeface="Tahoma"/>
              </a:rPr>
              <a:t>ข้อมูลที่โรงงานใหม่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ต้องเตรียม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50" b="1" i="0">
                <a:solidFill>
                  <a:srgbClr val="068734"/>
                </a:solidFill>
                <a:latin typeface="Tahoma"/>
              </a:rPr>
              <a:t>⑤ ข้อมูลตั้งต้น — ต้องมีก่อนเปิดใช้วันแรก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เรียงตามลำดับการลง (ตัวบนเป็นฐานของตัวล่าง) · ส่งเป็น Excel ตามแม่แบบ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2920" cy="512064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08760"/>
            <a:ext cx="2743200" cy="512064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508760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ข้อมูล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08760"/>
            <a:ext cx="4937760" cy="512064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1508760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ต้องมีอะไรบ้าง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508760"/>
            <a:ext cx="3154680" cy="512064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1508760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เจ้าของข้อมูล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020824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02082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020824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ผังองค์กร + Cost Center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020824"/>
            <a:ext cx="4937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3" y="2020824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ฝ่าย → ส่วน → แผนก → ทีม · รหัส CC · ลำดับการแสดง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020824"/>
            <a:ext cx="3154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0224" y="2020824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HR / บัญชี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32888"/>
            <a:ext cx="50292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2532888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532888"/>
            <a:ext cx="274320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2532888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ไลน์ผลิต / หน่วยสนับสนุน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532888"/>
            <a:ext cx="493776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2463" y="2532888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ชื่อไลน์ · ไลน์แม่-ลูก · ชนิดไลน์ · production/support · คน std กะเช้า/ดึก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532888"/>
            <a:ext cx="315468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2532888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ฝ่ายผลิต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044952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044952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04495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044952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จุดงาน (workstation)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3044952"/>
            <a:ext cx="4937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12463" y="3044952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จุดยืนในแต่ละไลน์ · จำนวนคนต่อจุด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3044952"/>
            <a:ext cx="3154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3044952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ฝ่ายผลิต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57016"/>
            <a:ext cx="50292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" y="3557016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3557016"/>
            <a:ext cx="274320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3557016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พนักงาน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557016"/>
            <a:ext cx="493776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12463" y="3557016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รหัส · ชื่อ · ตำแหน่ง · สังกัด · ไลน์ · ทีม A/B/C · รูปถ่าย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3557016"/>
            <a:ext cx="315468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0224" y="3557016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HR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069080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" y="4069080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06908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4069080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ผู้ใช้ระบบ + สิทธิ์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4069080"/>
            <a:ext cx="4937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2463" y="4069080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ใครใช้ระบบ · role · ส่วนงานที่ดูแล · CC ที่รับผิดชอบ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4069080"/>
            <a:ext cx="3154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4069080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หัวหน้าแต่ละฝ่าย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581144"/>
            <a:ext cx="50292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4581144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4581144"/>
            <a:ext cx="274320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" y="4581144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ปฏิทิน + กะ + เวลาพัก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4581144"/>
            <a:ext cx="493776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12463" y="4581144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วันทำงาน/หยุด/OT ทั้งปี · เวลากะ · เวลาพักต่อไลน์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0" y="4581144"/>
            <a:ext cx="315468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50224" y="4581144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HR / ฝ่ายผลิต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93208"/>
            <a:ext cx="502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6344" y="5093208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509320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" y="5093208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เครื่องจักร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0" y="5093208"/>
            <a:ext cx="4937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12463" y="5093208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เลขเครื่อง (รูปแบบเดียว) · ไลน์ · ชนิดสินทรัพย์ · shut height (ปั๊ม)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5093208"/>
            <a:ext cx="3154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50224" y="5093208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ซ่อมบำรุง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605272"/>
            <a:ext cx="50292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6344" y="5605272"/>
            <a:ext cx="39319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5605272"/>
            <a:ext cx="274320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264" y="5605272"/>
            <a:ext cx="263347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สินค้า / พาร์ท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5605272"/>
            <a:ext cx="493776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12463" y="5605272"/>
            <a:ext cx="482803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MAT no · P/N · ชื่อ · ลูกค้า · CT ต่อ shot · คู่ RH/LH · ไลน์ที่ผลิต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95360" y="5605272"/>
            <a:ext cx="315468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50224" y="5605272"/>
            <a:ext cx="3044952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PE / วางแผน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68734"/>
                </a:solidFill>
                <a:latin typeface="Tahoma"/>
              </a:rPr>
              <a:t>⑥ ข้อมูลที่เติมตามมา — เปิดโมดูลไหน เตรียมชุดนั้น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ไม่ต้องครบวันแรก · เริ่มจากไลน์นำร่อง 1-2 ไลน์ให้ linkage ครบก่อนขยาย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01752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โมดูล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512064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508760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ข้อมูลที่ต้องเตรียม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508760"/>
            <a:ext cx="3200400" cy="47548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1508760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เจ้าของข้อมูล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84248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1984248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BOM +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984248"/>
            <a:ext cx="5120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1984248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โครง BOM หลายชั้น · OP / PFC · ชนิดกระบวนการ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1984248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1984248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59736"/>
            <a:ext cx="30175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459736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ลูกค้า / Supplier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459736"/>
            <a:ext cx="51206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2459736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ทะเบียนลูกค้า · supplier · จุดส่ง · Kanban/Packing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459736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4" y="2459736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Logistic / วางแผน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35224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35224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แม่พิมพ์ / จิ๊ก / อะไหล่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935224"/>
            <a:ext cx="5120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3864" y="2935224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ทะเบียน die · jig · spare part · ตำแหน่งชั้นวาง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2935224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504" y="2935224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DIE / JIG / สโตร์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10712"/>
            <a:ext cx="30175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3410712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ซ่อมบำรุง + PM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3410712"/>
            <a:ext cx="51206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3864" y="3410712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ทีมช่าง · หมวดอาการเสีย · แผน PM · รายการตรวจ 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3410712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3410712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ซ่อมบำรุง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86200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886200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คุณภาพ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3886200"/>
            <a:ext cx="5120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83864" y="3886200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หมวดของเสีย · ใบตรวจ QA · PFMEA / Control Plan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3886200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3886200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QA / 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361688"/>
            <a:ext cx="30175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361688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KPI / OBEYA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4361688"/>
            <a:ext cx="51206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83864" y="4361688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รายการ KPI ต่อหน่วยงาน · เป้า A / P / Q · ยอดขาย / COGS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361688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04504" y="4361688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ผู้บริหาร / บัญชี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837175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" y="4837175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ความปลอดภัย / PPE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4837175"/>
            <a:ext cx="5120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3864" y="4837175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รายการ PPE ต่อจุดงาน · หัวข้อ BBS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4837175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4504" y="4837175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Safety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312663"/>
            <a:ext cx="30175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312663"/>
            <a:ext cx="2907791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ทะเบียนเอกสาร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5312663"/>
            <a:ext cx="51206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83864" y="5312663"/>
            <a:ext cx="501091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เลขฟอร์ม · Rev · โลโก้ ของทุกใบที่พิมพ์ / export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5312663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04504" y="5312663"/>
            <a:ext cx="3090672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Document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68734"/>
                </a:solidFill>
                <a:latin typeface="Tahoma"/>
              </a:rPr>
              <a:t>⑦ กติกาการเตรียมข้อมูล — ป้องกันข้อมูลเพี้ยนตั้งแต่ต้น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ทุกข้อเคยเกิดจริงที่ TSAT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557784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557784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รูปแบบข้อมูล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5303520" cy="3931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เลขเครื่องเขียนแบบเดียว (SW10 ไม่ใช่ SW-10 ปนกัน)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ชื่อไลน์ / ทีม / ส่วนงาน ไม่ซ้ำ ไม่มีช่องว่างเกิน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CT เป็นวินาทีต่อ 1 จังหวะ (shot) ไม่ใช่ต่อชิ้น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งานคู่ RH/LH ต้องระบุคู่ ไม่งั้นนับเวลาซ้ำ 2 เท่า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ช่องที่ไม่รู้ให้ว่าง ห้ามใส่ 0 หรือ “อื่นๆ”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54480"/>
            <a:ext cx="557784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54480"/>
            <a:ext cx="557784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554480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ความถูกต้อง + ความเป็นส่วนตัว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5303520" cy="3931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ห้ามคัดลอกข้อมูลผลิต / พนักงานจาก TSAT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คัดลอกได้เฉพาะชุดตั้งค่า: สิทธิ์ · หมวดหมู่กลาง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ข้อมูลพนักงาน / รูปถ่าย ผ่าน PDPA ของโรงงานนั้น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มีผู้ยืนยันข้อมูลแต่ละชุด (ลงชื่อ + วันที่)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☐  ลงข้อมูลชุดเล็กก่อน ตรวจบนจอ แล้วค่อยลงทั้งหมด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ข้อควรระวัง — สิ่งที่ห้ามทำ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ผลกระทบสูงถ้าพลาด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4206240" cy="56692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508760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ห้าม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08760"/>
            <a:ext cx="7132320" cy="566928"/>
          </a:xfrm>
          <a:prstGeom prst="rect">
            <a:avLst/>
          </a:prstGeom>
          <a:solidFill>
            <a:srgbClr val="0D3D14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3" y="1508760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เพราะ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7568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075688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ใช้ฐานข้อมูลร่วมกับ TSAT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075688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2075688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ไม่มีด่านแยกโรงงานในระดับแถว — ข้อมูลปนกันทันที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42616"/>
            <a:ext cx="42062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642616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ยุบ MAIN + DR เป็นโปรเจคเดียว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642616"/>
            <a:ext cx="71323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3" y="2642616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DR เปิด anon ทั้งโปรเจค = ข้อมูลคนหลุดออกอินเทอร์เน็ต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0954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209544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deploy ก่อนแก้ URL ที่ฝังในโค้ด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3209544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209544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แจ้งเตือนของโรงงานใหม่จะวิ่งเข้าระบบ TSAT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76472"/>
            <a:ext cx="42062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776472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เปลี่ยน RLS ฝั่ง DR เป็น authenticated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776472"/>
            <a:ext cx="71323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3" y="3776472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เว็บต่อ DR ด้วย anon เสมอ = พังทั้งระบบ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4340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343400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fork แล้วปล่อยแยกทางยาว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343400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3" y="4343400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บั๊กที่แก้ที่ TSAT ไม่ไหลไปอีกโรงงาน — ใช้ repo เดียว + config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910328"/>
            <a:ext cx="42062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4910328"/>
            <a:ext cx="4096511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deploy ในเวลาทำงาน 08:00–17:30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910328"/>
            <a:ext cx="71323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3" y="4910328"/>
            <a:ext cx="702259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แท็บที่เปิดค้างพังพร้อมกันทุกเครื่อง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แผนขึ้นระบบ 5 สัปดาห์ (ข้อเสนอ)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เริ่มจากไลน์นำร่อง แล้วขยายทีละกลุ่ม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13</a:t>
            </a:r>
          </a:p>
        </p:txBody>
      </p:sp>
      <p:sp>
        <p:nvSpPr>
          <p:cNvPr id="7" name="Pentagon 6"/>
          <p:cNvSpPr/>
          <p:nvPr/>
        </p:nvSpPr>
        <p:spPr>
          <a:xfrm>
            <a:off x="411480" y="1600200"/>
            <a:ext cx="2103120" cy="640080"/>
          </a:xfrm>
          <a:prstGeom prst="homePlate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W1  โครงสร้าง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21031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514600"/>
            <a:ext cx="192024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เปิด Supabase 2 โปรเจค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Hosting + domain + TLS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แก้ URL ฝังในโค้ด</a:t>
            </a:r>
          </a:p>
        </p:txBody>
      </p:sp>
      <p:sp>
        <p:nvSpPr>
          <p:cNvPr id="11" name="Chevron 10"/>
          <p:cNvSpPr/>
          <p:nvPr/>
        </p:nvSpPr>
        <p:spPr>
          <a:xfrm>
            <a:off x="2697480" y="1600200"/>
            <a:ext cx="2103120" cy="6400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60020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W2  ฐานข้อมูล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77440"/>
            <a:ext cx="21031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514600"/>
            <a:ext cx="192024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schema + RLS + bucket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edge function + secrets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pg_cron + realtime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83480" y="1600200"/>
            <a:ext cx="2103120" cy="6400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60020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W3  ข้อมูลหลัก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2377440"/>
            <a:ext cx="21031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2514600"/>
            <a:ext cx="192024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ผังองค์กร · ไลน์ · คน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ผู้ใช้ + สิทธิ์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ปฏิทิน · เครื่อง · พาร์ท</a:t>
            </a:r>
          </a:p>
        </p:txBody>
      </p:sp>
      <p:sp>
        <p:nvSpPr>
          <p:cNvPr id="19" name="Chevron 18"/>
          <p:cNvSpPr/>
          <p:nvPr/>
        </p:nvSpPr>
        <p:spPr>
          <a:xfrm>
            <a:off x="7269480" y="1600200"/>
            <a:ext cx="2103120" cy="640080"/>
          </a:xfrm>
          <a:prstGeom prst="chevron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60020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W4  นำร่อง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377440"/>
            <a:ext cx="21031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2514600"/>
            <a:ext cx="192024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1-2 ไลน์ ใช้จริง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เช็คชื่อ · รายงานผลิต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เก็บ feedback แก้</a:t>
            </a:r>
          </a:p>
        </p:txBody>
      </p:sp>
      <p:sp>
        <p:nvSpPr>
          <p:cNvPr id="23" name="Chevron 22"/>
          <p:cNvSpPr/>
          <p:nvPr/>
        </p:nvSpPr>
        <p:spPr>
          <a:xfrm>
            <a:off x="9555480" y="1600200"/>
            <a:ext cx="2103120" cy="6400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600200"/>
            <a:ext cx="210312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W5  ขยาย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2377440"/>
            <a:ext cx="210312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7" y="2514600"/>
            <a:ext cx="1920240" cy="21945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ไลน์ที่เหลือ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เปิดโมดูล PM / QA / KPI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ส่งมอบผู้ดูแล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74920"/>
            <a:ext cx="1133856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74920"/>
            <a:ext cx="1133856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ข้อมูลจากโรงงาน (ข้อ ⑤) คือคอขวด — ส่งแม่แบบ Excel ให้ตั้งแต่ W1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pic>
        <p:nvPicPr>
          <p:cNvPr id="3" name="Picture 2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