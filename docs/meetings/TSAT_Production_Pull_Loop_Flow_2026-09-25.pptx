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โฟลว์การเรียกงาน  ผลิต ➜ สโตร์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Production Pull Loop — ใครกดอะไร ที่หน้าจอไหน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ประชุมมอบหมายงาน · 25 กันยายน 2569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Thai Summit Autoparts Industry — PD3 / Store /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My Quality Declaration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68734"/>
                </a:solidFill>
                <a:latin typeface="Tahoma"/>
              </a:rPr>
              <a:t>โฟลว์การเรียกงาน — 7 ขั้นที่ทำได้วันนี้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ลูปเริ่มที่ไลน์ผลิต ไม่ใช่ที่สโตร์ · จบเมื่อผลิตกดยืนยันรับของ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234440" cy="120700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234440" cy="12070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ฝ่ายผลิต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572768"/>
            <a:ext cx="10040112" cy="1207008"/>
          </a:xfrm>
          <a:prstGeom prst="rect">
            <a:avLst/>
          </a:prstGeom>
          <a:solidFill>
            <a:srgbClr val="F4F7F2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99232"/>
            <a:ext cx="1234440" cy="1207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99232"/>
            <a:ext cx="1234440" cy="12070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ระบบ ESM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2999232"/>
            <a:ext cx="10040112" cy="1207008"/>
          </a:xfrm>
          <a:prstGeom prst="rect">
            <a:avLst/>
          </a:prstGeom>
          <a:solidFill>
            <a:srgbClr val="F4F7F2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25696"/>
            <a:ext cx="1234440" cy="120700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425696"/>
            <a:ext cx="1234440" cy="12070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สโตร์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4425696"/>
            <a:ext cx="10040112" cy="1207008"/>
          </a:xfrm>
          <a:prstGeom prst="rect">
            <a:avLst/>
          </a:prstGeom>
          <a:solidFill>
            <a:srgbClr val="F4F7F2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47088" y="1728216"/>
            <a:ext cx="14173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11095" y="1792224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11095" y="1783080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1755648"/>
            <a:ext cx="987552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ปิดใบผลิต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สแกนยืนยันยอด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3154679"/>
            <a:ext cx="14173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65576" y="3218687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5576" y="3209544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182112"/>
            <a:ext cx="987552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หักยอด WIP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ในไลน์อัตโนมัติ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3154679"/>
            <a:ext cx="1572768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0056" y="3218687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0056" y="3209544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3182112"/>
            <a:ext cx="1143000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ถึง min ➜ ขึ้น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รายการเสนอให้เบิก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5976" y="1728216"/>
            <a:ext cx="1481328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29984" y="1792224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1783080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1736" y="1755648"/>
            <a:ext cx="1051560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หัวหน้ากลุ่มกด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“ยืนยันเบิก”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4581144"/>
            <a:ext cx="1664208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48472" y="4645152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4636008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4608576"/>
            <a:ext cx="1234440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สแกน MAT + จำนวน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(ตัดสต็อกสโตร์)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5832" y="4581144"/>
            <a:ext cx="16459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49840" y="4645152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4636008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51592" y="4608576"/>
            <a:ext cx="1216152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นำของไปส่ง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สแกน QR จุดส่ง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85832" y="1728216"/>
            <a:ext cx="16459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1792224"/>
            <a:ext cx="274320" cy="274320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1783080"/>
            <a:ext cx="2743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755648"/>
            <a:ext cx="1216152" cy="8412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ผลิตกดยืนยันรับ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ครบ / ไม่ครบ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64408" y="2020824"/>
            <a:ext cx="137160" cy="1426464"/>
          </a:xfrm>
          <a:prstGeom prst="bentConnector3">
            <a:avLst/>
          </a:prstGeom>
          <a:ln w="22225">
            <a:solidFill>
              <a:srgbClr val="D95323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18888" y="3447288"/>
            <a:ext cx="137160" cy="0"/>
          </a:xfrm>
          <a:prstGeom prst="bentConnector3">
            <a:avLst/>
          </a:prstGeom>
          <a:ln w="22225">
            <a:solidFill>
              <a:srgbClr val="D95323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528816" y="2020824"/>
            <a:ext cx="137160" cy="1426464"/>
          </a:xfrm>
          <a:prstGeom prst="bentConnector3">
            <a:avLst/>
          </a:prstGeom>
          <a:ln w="22225">
            <a:solidFill>
              <a:srgbClr val="D95323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147304" y="2020824"/>
            <a:ext cx="137160" cy="2852928"/>
          </a:xfrm>
          <a:prstGeom prst="bentConnector3">
            <a:avLst/>
          </a:prstGeom>
          <a:ln w="22225">
            <a:solidFill>
              <a:srgbClr val="D95323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48672" y="4873752"/>
            <a:ext cx="137160" cy="0"/>
          </a:xfrm>
          <a:prstGeom prst="bentConnector3">
            <a:avLst/>
          </a:prstGeom>
          <a:ln w="22225">
            <a:solidFill>
              <a:srgbClr val="D95323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908792" y="2624328"/>
            <a:ext cx="0" cy="1956816"/>
          </a:xfrm>
          <a:prstGeom prst="bentConnector3">
            <a:avLst/>
          </a:prstGeom>
          <a:ln w="22225">
            <a:solidFill>
              <a:srgbClr val="D95323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5669280"/>
            <a:ext cx="113385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ลูปปิดที่ขั้น 7 ➜ ใบนั้นหายจากคิวสโตร์เอง  ·  วัดเวลาได้ทุกใบ: </a:t>
            </a:r>
            <a:r>
              <a:rPr sz="1200" b="1" i="0">
                <a:solidFill>
                  <a:srgbClr val="D95323"/>
                </a:solidFill>
                <a:latin typeface="Tahoma"/>
              </a:rPr>
              <a:t>ยืนยันเบิก ➜ ผลิตรับของ = lead 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989320"/>
            <a:ext cx="1133856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Tahoma"/>
              </a:rPr>
              <a:t>* โฟลว์ที่ตกลงกันไว้ 27/08 มี 8 ขั้น — ขั้น “สแกน lot / id no. ของพาร์ท” ยังไม่มีในระบบ (ทั้งระบบยังไม่เก็บ lot no.) จึงยังไม่วาดไว้</a:t>
            </a:r>
          </a:p>
        </p:txBody>
      </p:sp>
      <p:pic>
        <p:nvPicPr>
          <p:cNvPr id="49" name="Picture 48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ทำที่หน้าจอไหน กดปุ่มไหน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ทุกขั้นอยู่ในหน้าที่คนนั้นเปิดอยู่แล้วทั้งกะ — ไม่มีหน้าจอใหม่ให้จำ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502920" cy="31089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ขั้น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627632"/>
            <a:ext cx="1234440" cy="31089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23444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ใคร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627632"/>
            <a:ext cx="2788920" cy="31089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627632"/>
            <a:ext cx="2788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หน้าจอ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627632"/>
            <a:ext cx="3931920" cy="31089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27632"/>
            <a:ext cx="3931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กดอะไร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627632"/>
            <a:ext cx="3246120" cy="31089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627632"/>
            <a:ext cx="3246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ผลที่เกิด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38528"/>
            <a:ext cx="502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938528"/>
            <a:ext cx="429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1938528"/>
            <a:ext cx="12344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1938528"/>
            <a:ext cx="116128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1938528"/>
            <a:ext cx="2788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1938528"/>
            <a:ext cx="2715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📋 Daily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1938528"/>
            <a:ext cx="3931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0056" y="1938528"/>
            <a:ext cx="3858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สแกนปิดใบผลิต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938528"/>
            <a:ext cx="32461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1976" y="1938528"/>
            <a:ext cx="31729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ระบบระเบิด BOM หายอดพาร์ทที่ใช้ไป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22576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322576"/>
            <a:ext cx="429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232257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2322576"/>
            <a:ext cx="116128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ระบบ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2322576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2322576"/>
            <a:ext cx="2715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— อัตโนมัติ 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322576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0056" y="2322576"/>
            <a:ext cx="3858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ไม่ต้องกด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322576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2322576"/>
            <a:ext cx="31729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หักยอด WIP ในไลน์ตามที่ผลิตไปแล้ว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706624"/>
            <a:ext cx="50292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2706624"/>
            <a:ext cx="4297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2706624"/>
            <a:ext cx="123444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" y="2706624"/>
            <a:ext cx="116128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ระบบ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2706624"/>
            <a:ext cx="278892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31136" y="2706624"/>
            <a:ext cx="27157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📋 Daily Report ➜ แผง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📦 เรียกชิ้นส่วนจากสโตร์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2706624"/>
            <a:ext cx="393192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0056" y="2706624"/>
            <a:ext cx="38587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ไม่ต้องกด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2706624"/>
            <a:ext cx="324612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1976" y="2706624"/>
            <a:ext cx="31729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พาร์ทที่ต่ำกว่า min ขึ้นเป็นรายการ “เสนอให้เบิก”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236976"/>
            <a:ext cx="502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" y="3236976"/>
            <a:ext cx="4297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" y="3236976"/>
            <a:ext cx="1234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" y="3236976"/>
            <a:ext cx="116128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หัวหน้ากลุ่ม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3236976"/>
            <a:ext cx="2788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31136" y="3236976"/>
            <a:ext cx="27157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📋 Daily Report ➜ แผงเดียวกัน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3236976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0056" y="3236976"/>
            <a:ext cx="38587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✅ ยืนยันเบิก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(หรือ ⏸ พักไว้ก่อน)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3236976"/>
            <a:ext cx="3246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51976" y="3236976"/>
            <a:ext cx="3172968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ใบเข้าคิวสโตร์ทันที + แจ้งเตือนสโตร์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67328"/>
            <a:ext cx="502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" y="3767328"/>
            <a:ext cx="429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" y="3767328"/>
            <a:ext cx="12344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6" y="3767328"/>
            <a:ext cx="116128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94560" y="3767328"/>
            <a:ext cx="2788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31136" y="3767328"/>
            <a:ext cx="2715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🎴 Heijunka ➜ 🔄 คิวเติม WIP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3767328"/>
            <a:ext cx="3931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0056" y="3767328"/>
            <a:ext cx="3858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🔍 เริ่มเตรียม · สแกนพาร์ท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15400" y="3767328"/>
            <a:ext cx="32461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51976" y="3767328"/>
            <a:ext cx="31729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ตัดสต็อกสโตร์ ➜ โอนเข้าไลน์ (ledger)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151376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" y="4151376"/>
            <a:ext cx="429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" y="415137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" y="4151376"/>
            <a:ext cx="116128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94560" y="4151376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31136" y="4151376"/>
            <a:ext cx="2715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🎴 Heijunka ➜ 🔄 คิวเติม WIP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83480" y="4151376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0056" y="4151376"/>
            <a:ext cx="3858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📍 ถึงไลน์แล้ว · สแกนจุดส่ง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15400" y="4151376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51976" y="4151376"/>
            <a:ext cx="31729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บันทึกว่าของถึงจุดใช้งานจริง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535424"/>
            <a:ext cx="502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3776" y="4535424"/>
            <a:ext cx="429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5323"/>
                </a:solidFill>
                <a:latin typeface="Tahoma"/>
              </a:rPr>
              <a:t>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" y="4535424"/>
            <a:ext cx="12344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" y="4535424"/>
            <a:ext cx="116128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ผลิต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94560" y="4535424"/>
            <a:ext cx="2788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31136" y="4535424"/>
            <a:ext cx="2715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📋 Daily Report ➜ แผงเดียวกัน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83480" y="4535424"/>
            <a:ext cx="39319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0056" y="4535424"/>
            <a:ext cx="38587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✔ รับครบ / ⚠ รับไม่ครบ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15400" y="4535424"/>
            <a:ext cx="324612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51976" y="4535424"/>
            <a:ext cx="317296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ปิดลูป · ใบหายจากคิวสโตร์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5029200"/>
            <a:ext cx="1133856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ขั้น 3 ไม่ขึ้นรายการอะไรเลย = ยังไม่ได้ตั้ง min/max ของไลน์นั้น (ดูสไลด์ถัดไป)</a:t>
            </a:r>
          </a:p>
        </p:txBody>
      </p:sp>
      <p:pic>
        <p:nvPicPr>
          <p:cNvPr id="85" name="Picture 84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วันนี้ลูปนี้เดินถึงไหนแล้ว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วัดจากฐานข้อมูลจริง 25/09/2569 — โฟลว์ใช้งานได้จริงแล้ว แต่ยังไม่มีใครเริ่มที่ขั้น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276148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49424"/>
            <a:ext cx="2615184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ใบขอเติมทั้งหมดในระบบ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2424" y="1645920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700784"/>
            <a:ext cx="276148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5576" y="2249424"/>
            <a:ext cx="2615184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ใบเดียว ที่ไลน์กดเบิกเอง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645920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700784"/>
            <a:ext cx="276148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88A00"/>
                </a:solidFill>
                <a:latin typeface="Tahoma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49424"/>
            <a:ext cx="2615184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ใบ สโตร์ทำเองจาก 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1432" y="1645920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D0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700784"/>
            <a:ext cx="276148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49424"/>
            <a:ext cx="2615184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ใบที่เดินครบลูปถึงขั้น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44368"/>
            <a:ext cx="50292" cy="54864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16936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68734"/>
                </a:solidFill>
                <a:latin typeface="Tahoma"/>
              </a:rPr>
              <a:t>✅ โฟลว์ไม่ได้พัง — พิสูจน์แล้วว่าใช้ได้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91256"/>
            <a:ext cx="109728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4 ใบเดินครบ หยิบ ➜ สแกนจุดส่ง ➜ ผลิตกดรับ เมื่อ 07/09 · ระบบบันทึกเวลาทุกหมุดให้ครบ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75887"/>
            <a:ext cx="50292" cy="548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648456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95323"/>
                </a:solidFill>
                <a:latin typeface="Tahoma"/>
              </a:rPr>
              <a:t>🔴 แต่คนเริ่มลูปผิดฝั่ง — สโตร์เดาความต้องการแทนไลน์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22775"/>
            <a:ext cx="109728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18 จาก 19 ใบ สโตร์สร้างเองจาก forecast · ไลน์กดเบิกเองแค่ 1 ใบเดียวตั้งแต่เปิดใช้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07408"/>
            <a:ext cx="50292" cy="54864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379976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C88A00"/>
                </a:solidFill>
                <a:latin typeface="Tahoma"/>
              </a:rPr>
              <a:t>🟠 14 ใบค้างในคิวสโตร์ · ใบเก่าสุดรอมา 17 วัน (ตั้งแต่ 08/09)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54296"/>
            <a:ext cx="109728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ใบที่ไม่มีคนหยิบต่อ = ไลน์ไม่ได้ของ แล้วก็กลับไปโทร/ไลน์แชทเหมือนเดิม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38928"/>
            <a:ext cx="50292" cy="548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111496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95323"/>
                </a:solidFill>
                <a:latin typeface="Tahoma"/>
              </a:rPr>
              <a:t>🔔 ขณะนี้มี 14 พาร์ทต่ำกว่า min อยู่ที่ 4 ไลน์ — ระบบเสนอให้เบิกแล้ว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85816"/>
            <a:ext cx="109728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LINE D 7 พาร์ท · LINE B 4 · LINE A 2 · LASER E50 1 — รอหัวหน้ากลุ่มกด ยืนยันเบิก เท่านั้น</a:t>
            </a:r>
          </a:p>
        </p:txBody>
      </p:sp>
      <p:pic>
        <p:nvPicPr>
          <p:cNvPr id="28" name="Picture 27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50" b="1" i="0">
                <a:solidFill>
                  <a:srgbClr val="068734"/>
                </a:solidFill>
                <a:latin typeface="Tahoma"/>
              </a:rPr>
              <a:t>ตัวขวางเดียวที่เหลือ — min / max ของไลน์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068734"/>
                </a:solidFill>
                <a:latin typeface="Tahoma"/>
              </a:rPr>
              <a:t>กฎของระบบ: ไม่ตั้ง min = ไม่เสนอ = แผงเรียกของว่างเปล่า = กลับไปใช้ไลน์แชท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27632"/>
            <a:ext cx="553212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55321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✅ ตั้งแล้ว (23/09) — ไลน์ปั๊ม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627632"/>
            <a:ext cx="5532120" cy="36576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9632" y="1627632"/>
            <a:ext cx="55321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🔴 ยังไม่ตั้งเลย — ไลน์ประกอบ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5532120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48256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B ( 600 Ton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48256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22 พาร์ท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2868"/>
            <a:ext cx="5532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72868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D ( 110&amp;300 Ton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72868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18 พาร์ท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5532120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697480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A ( 800 Ton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10 พาร์ท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22092"/>
            <a:ext cx="5532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022092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C ( 200&amp;250 Ton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22092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8 พาร์ท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46704"/>
            <a:ext cx="5532120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346704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LASER E50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346704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1 พาร์ท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71316"/>
            <a:ext cx="5532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671316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MAIN TSRA-2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671316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1 พาร์ท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2048256"/>
            <a:ext cx="5532120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048256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ASSY TSRA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2048256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ใช้ 21 พาร์ท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2372868"/>
            <a:ext cx="5532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372868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2372868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ใช้ 21 พาร์ท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2697480"/>
            <a:ext cx="5532120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697480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Assy GOR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1552" y="2697480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ใช้ 19 พาร์ท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3022092"/>
            <a:ext cx="5532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022092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SUB APRON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3022092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ใช้ 15 พาร์ท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3346704"/>
            <a:ext cx="5532120" cy="324612"/>
          </a:xfrm>
          <a:prstGeom prst="rect">
            <a:avLst/>
          </a:prstGeom>
          <a:solidFill>
            <a:srgbClr val="F2F2F2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346704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Line 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1552" y="3346704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ใช้ 15 พาร์ท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3671316"/>
            <a:ext cx="553212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671316"/>
            <a:ext cx="384048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D3D14"/>
                </a:solidFill>
                <a:latin typeface="Tahoma"/>
              </a:rPr>
              <a:t>Assy LWR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3671316"/>
            <a:ext cx="1463040" cy="3246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ใช้ 14 พาร์ท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224528"/>
            <a:ext cx="11228832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297680"/>
            <a:ext cx="1088136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5323"/>
                </a:solidFill>
                <a:latin typeface="Tahoma"/>
              </a:rPr>
              <a:t>ตั้งที่ไหน · ใครตั้ง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608576"/>
            <a:ext cx="10881360" cy="53035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📋 Daily Report ➜ แผง 📦 เรียกชิ้นส่วนจากสโตร์ ➜ ปุ่ม </a:t>
            </a:r>
            <a:r>
              <a:rPr sz="1200" b="1" i="0">
                <a:solidFill>
                  <a:srgbClr val="0D3D14"/>
                </a:solidFill>
                <a:latin typeface="Tahoma"/>
              </a:rPr>
              <a:t>⚙️ ตั้งระดับ min/max</a:t>
            </a:r>
            <a:r>
              <a:rPr sz="1200" b="0" i="0">
                <a:solidFill>
                  <a:srgbClr val="555555"/>
                </a:solidFill>
                <a:latin typeface="Tahoma"/>
              </a:rPr>
              <a:t>   (ต้องเปิดกะของไลน์นั้นอยู่)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ผู้ตั้ง = </a:t>
            </a:r>
            <a:r>
              <a:rPr sz="1200" b="1" i="0">
                <a:solidFill>
                  <a:srgbClr val="0D3D14"/>
                </a:solidFill>
                <a:latin typeface="Tahoma"/>
              </a:rPr>
              <a:t>หัวหน้ากลุ่ม + หัวหน้าแผนกฝ่ายผลิต</a:t>
            </a:r>
            <a:r>
              <a:rPr sz="1200" b="0" i="0">
                <a:solidFill>
                  <a:srgbClr val="555555"/>
                </a:solidFill>
                <a:latin typeface="Tahoma"/>
              </a:rPr>
              <a:t>  — คนที่ยืนหน้าไลน์รู้ว่าพื้นที่วางได้กี่กล่องและกินเร็วแค่ไหน ไม่ใช่ Planning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358384"/>
            <a:ext cx="11228832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💡 ตั้งแค่พาร์ทที่กินบ่อย 5-10 ตัวแรกของไลน์ก็เริ่มได้ </a:t>
            </a:r>
            <a:r>
              <a:rPr sz="1250" b="0" i="0">
                <a:solidFill>
                  <a:srgbClr val="555555"/>
                </a:solidFill>
                <a:latin typeface="Tahoma"/>
              </a:rPr>
              <a:t>— ไม่ต้องรอครบทุกพาร์ท ที่ไม่ตั้งยังเบิกมือได้เหมือนเดิม</a:t>
            </a:r>
          </a:p>
        </p:txBody>
      </p:sp>
      <p:pic>
        <p:nvPicPr>
          <p:cNvPr id="48" name="Picture 47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มอบหมายงาน — เพื่อให้ลูปเดินเองได้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เรียงตามลำดับที่ต้องทำ · ข้อ 1 ไม่เสร็จ ข้ออื่นไม่มีผล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112288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64008" cy="65836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828800"/>
            <a:ext cx="301752" cy="301752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19656"/>
            <a:ext cx="301752" cy="3017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664208"/>
            <a:ext cx="324612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หัวหน้ากลุ่มไลน์ประกอบ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(GOR · LWR · SUB APRON · TSRA · 60/61)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64208"/>
            <a:ext cx="580644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ตั้ง min/max พาร์ทที่กินบ่อย 5-10 ตัว/ไลน์ — ปลดล็อกขั้น 3 ของโฟลว์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05872" y="1819656"/>
            <a:ext cx="1188720" cy="31089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810512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ภายใน 30/09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86584"/>
            <a:ext cx="112288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86584"/>
            <a:ext cx="64008" cy="65836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569464"/>
            <a:ext cx="301752" cy="301752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60320"/>
            <a:ext cx="301752" cy="3017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404872"/>
            <a:ext cx="324612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หัวหน้ากลุ่มทุกไลน์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04872"/>
            <a:ext cx="580644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เคลียร์ 14 พาร์ทที่ต่ำกว่า min วันนี้ — กด ยืนยันเบิก หรือ พักไว้ก่อน พร้อมเหตุผล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05872" y="2560320"/>
            <a:ext cx="1188720" cy="31089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5872" y="2551176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วันนี้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27248"/>
            <a:ext cx="112288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127248"/>
            <a:ext cx="64008" cy="65836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3310128"/>
            <a:ext cx="301752" cy="301752"/>
          </a:xfrm>
          <a:prstGeom prst="ellipse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300984"/>
            <a:ext cx="301752" cy="3017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145536"/>
            <a:ext cx="324612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145536"/>
            <a:ext cx="580644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เคลียร์ใบค้าง 14 ใบในคิวเติม WIP · ใบไหนไม่ต้องส่งแล้วให้ระบุเหตุผล ห้ามปล่อยค้าง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05872" y="3300984"/>
            <a:ext cx="1188720" cy="310896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5872" y="3291840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ภายใน 26/09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867911"/>
            <a:ext cx="112288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867911"/>
            <a:ext cx="64008" cy="65836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3232" y="4050791"/>
            <a:ext cx="301752" cy="301752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041648"/>
            <a:ext cx="301752" cy="3017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3886199"/>
            <a:ext cx="324612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สโตร์ + หัวหน้าไลน์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886199"/>
            <a:ext cx="580644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หยุดเบิกผ่านไลน์แชท — ของที่เบิกต้องมีใบในระบบทุกครั้ง (ไม่มีใบ = ไม่ส่ง)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05872" y="4041648"/>
            <a:ext cx="1188720" cy="31089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5872" y="4032503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เริ่ม 26/09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608575"/>
            <a:ext cx="112288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608575"/>
            <a:ext cx="64008" cy="65836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232" y="4791455"/>
            <a:ext cx="301752" cy="301752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782312"/>
            <a:ext cx="301752" cy="3017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626863"/>
            <a:ext cx="324612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ฝ่ายผลิต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626863"/>
            <a:ext cx="580644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ทุกครั้งที่รับของ กด ✔ รับครบ / ⚠ รับไม่ครบ — ไม่กด = วัด lead time ไม่ได้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05872" y="4782312"/>
            <a:ext cx="1188720" cy="31089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05872" y="4773167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เริ่มทันที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349239"/>
            <a:ext cx="112288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349239"/>
            <a:ext cx="64008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5532119"/>
            <a:ext cx="301752" cy="30175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522975"/>
            <a:ext cx="301752" cy="3017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5367527"/>
            <a:ext cx="324612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ทีมระบบ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367527"/>
            <a:ext cx="5806440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ติดตั้ง QR จุดส่งงานให้ไลน์ที่ยังไม่มี (ไม่มีจุด = สโตร์ส่งได้แต่ตรวจไม่ได้)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05872" y="5522975"/>
            <a:ext cx="1188720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05872" y="5513831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ahoma"/>
              </a:rPr>
              <a:t>ภายใน 03/10</a:t>
            </a:r>
          </a:p>
        </p:txBody>
      </p:sp>
      <p:pic>
        <p:nvPicPr>
          <p:cNvPr id="52" name="Picture 5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79776"/>
            <a:ext cx="10552176" cy="6492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50" b="1" i="0">
                <a:solidFill>
                  <a:srgbClr val="068734"/>
                </a:solidFill>
                <a:latin typeface="Tahoma"/>
              </a:rPr>
              <a:t>ของทุกชิ้นที่เข้าไลน์ ต้องมีใบในระบบ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ไม่มีใบ = วัดไม่ได้ว่าช้าตรงไหน = แก้ไม่ได้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68734"/>
                </a:solidFill>
                <a:latin typeface="Tahoma"/>
              </a:rPr>
              <a:t>Before We Build Parts, We Build People</a:t>
            </a:r>
          </a:p>
        </p:txBody>
      </p:sp>
      <p:pic>
        <p:nvPicPr>
          <p:cNvPr id="5" name="Picture 4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