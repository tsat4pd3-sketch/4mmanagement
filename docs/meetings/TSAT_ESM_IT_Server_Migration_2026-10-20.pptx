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ESM ตอนนี้เป็นเว็บแอปที่อยู่บนคลาวด์ 2 เจ้า หน้าเว็บอยู่ Render ฐานข้อมูลกับหลังบ้านอยู่ Supabase (PostgreSQL บนคลาวด์) อยากย้ายเข้าเซิร์ฟเวอร์บริษัท วันนี้ขอให้ไอทีช่วยเลือกวิธี และบอกว่าต้องเตรียมอะไร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ชี้ทีละกล่อง: คนเปิดหน้าเว็บ หน้าเว็บคุยกับ Supabase ซึ่งมีฐานข้อมูล 2 ก้อน + ล็อกอิน + realtime + หลังบ้าน 24 ตัว + ที่เก็บไฟล์ ด้านซ้ายล่างคือสิ่งที่ระบบต้องออกไปคุยข้างนอก ตัวเลขขนาดวัดไว้ 12 ต.ค. โค้ดทั้งหมดอยู่บน GitHub มีประวัติทุกการแก้ (migration 622 ไฟล์)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เสนอ A เพราะโค้ดแทบไม่ต้องแก้ แค่เปลี่ยนที่อยู่ของเซิร์ฟเวอร์ แต่ภาระอยู่ที่ไอที: ดูแล Docker ทำ backup อัปเดต ทำใบรับรอง SSL  B คือถ้าไอทียังไม่พร้อม ให้บริษัทถือบัญชีคลาวด์ไว้ก่อน  C ไม่แนะนำ เพราะต้องเขียนส่วนล็อกอิน realtime หลังบ้านใหม่ทั้งหมด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ไล่ 4 กล่อง: เครื่อง, ต้องออกเน็ตไปไหน, ต้องมีอะไรเข้ามาจากข้างนอก, งานดูแลต่อเนื่อง กล่องส้มคือเรื่องความปลอดภัย พูดตรงๆ ว่ามีจุดอ่อนที่รู้อยู่ ไอทีจะถามเรื่องนี้แน่นอน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ภาพปลายทาง: ทุกโรงงานในกลุ่มต่อเข้าศูนย์กลางเดียวที่ INET ใช้โปรแกรมชุดเดียวกัน ข้อมูลแต่ละบริษัทแยกด้วยรหัสบริษัท (company_id) ผู้บริหารกลุ่มดูรวมได้จากจอ OBEYA/Group Overview  PC จอ TV และกล่อง Edge ต่อผ่าน VPN ระหว่างไซต์ มือถือเข้าผ่าน Cloudflare + ล็อกอินบัญชี M365 ตัวเดียวกับอีเมล ศูนย์กลางควรเป็น 3 เครื่อง ไม่ใช่เครื่องเดียว เพราะถ้าล่มจะหยุดทุกโรงงานพร้อมกัน และต้องมี backup นอกไซต์  ข้อยกเว้น: ถ้าประเทศไหนกฎหมายบังคับให้ข้อมูลอยู่ในประเทศ ค่อยแยกชุดให้โรงงานนั้น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ไม่ต้องรอทำทุกอย่างพร้อมกัน ขั้น 1 คือย้าย TSAT4 ตามผังที่ไอทีเสนอ ขั้น 2 คืองานฝั่งโปรแกรมให้รองรับหลายบริษัท ข้อนี้สำคัญ: ตอนนี้ฐานข้อมูล DR ไม่ผูกกับการล็อกอิน ถ้าเอาหลายบริษัทมาอยู่ฐานเดียวโดยไม่แก้ บริษัทหนึ่งจะเห็นข้อมูลอีกบริษัท ขั้น 3 ค่อยรับโรงงานนำร่อง ส่วนล่างบอกว่าอะไรใช้ร่วม อะไรแยก  ระบบออกแบบไว้รองรับแล้ว (ผังองค์กรเพิ่มชั้นบริษัทได้ ตารางรายวันไม่ต้องแก้ เพราะรู้บริษัทจากไลน์)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อ่านคำถามทีละข้อ จดคำตอบ ข้อ 2 สำคัญที่สุด เพราะกำหนดเรื่อง firewall และ SSL ทั้งหมด ปิดด้วยขั้นต่อไป และย้ำว่าไม่ย้ายก่อน roadshow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56032"/>
            <a:ext cx="1143000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17904"/>
            <a:ext cx="11091672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750" b="1" i="0">
                <a:solidFill>
                  <a:srgbClr val="068734"/>
                </a:solidFill>
                <a:latin typeface="Tahoma"/>
              </a:rPr>
              <a:t>ย้ายระบบ ESM เข้าเซิร์ฟเวอร์บริษัท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0916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95323"/>
                </a:solidFill>
                <a:latin typeface="Tahoma"/>
              </a:rPr>
              <a:t>ระบบตอนนี้เป็นอย่างไร · มีทางเลือกอะไร · ต้องเตรียมอะไร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70048"/>
            <a:ext cx="8531352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ประชุมร่วมทีมไอที · 20 ตุลาคม 2569 · 15:00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TSAT · 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959352"/>
            <a:ext cx="578815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1">
                <a:solidFill>
                  <a:srgbClr val="068734"/>
                </a:solidFill>
                <a:latin typeface="Tahoma"/>
              </a:rPr>
              <a:t>คำประกาศคุณภาพของฉัน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43484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“I will not accept, produce and deliver non-quality work”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84632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“ผมจะไม่รับ, ไม่ทำและไม่ส่งมอบงานที่ไม่มีคุณภาพ”</a:t>
            </a:r>
          </a:p>
        </p:txBody>
      </p:sp>
      <p:pic>
        <p:nvPicPr>
          <p:cNvPr id="9" name="Picture 8" descr="title_a.jpg"/>
          <p:cNvPicPr>
            <a:picLocks noChangeAspect="1"/>
          </p:cNvPicPr>
          <p:nvPr/>
        </p:nvPicPr>
        <p:blipFill>
          <a:blip r:embed="rId3"/>
          <a:srcRect l="118" r="118"/>
          <a:stretch>
            <a:fillRect/>
          </a:stretch>
        </p:blipFill>
        <p:spPr>
          <a:xfrm>
            <a:off x="4434840" y="5577840"/>
            <a:ext cx="1920240" cy="1161288"/>
          </a:xfrm>
          <a:prstGeom prst="rect">
            <a:avLst/>
          </a:prstGeom>
        </p:spPr>
      </p:pic>
      <p:pic>
        <p:nvPicPr>
          <p:cNvPr id="10" name="Picture 9" descr="title_b.jpg"/>
          <p:cNvPicPr>
            <a:picLocks noChangeAspect="1"/>
          </p:cNvPicPr>
          <p:nvPr/>
        </p:nvPicPr>
        <p:blipFill>
          <a:blip r:embed="rId4"/>
          <a:srcRect l="4710" r="4710"/>
          <a:stretch>
            <a:fillRect/>
          </a:stretch>
        </p:blipFill>
        <p:spPr>
          <a:xfrm>
            <a:off x="6473952" y="5577840"/>
            <a:ext cx="1856231" cy="1152144"/>
          </a:xfrm>
          <a:prstGeom prst="rect">
            <a:avLst/>
          </a:prstGeom>
        </p:spPr>
      </p:pic>
      <p:pic>
        <p:nvPicPr>
          <p:cNvPr id="11" name="Picture 10" descr="title_c.jpg"/>
          <p:cNvPicPr>
            <a:picLocks noChangeAspect="1"/>
          </p:cNvPicPr>
          <p:nvPr/>
        </p:nvPicPr>
        <p:blipFill>
          <a:blip r:embed="rId5"/>
          <a:srcRect l="15297" r="15297"/>
          <a:stretch>
            <a:fillRect/>
          </a:stretch>
        </p:blipFill>
        <p:spPr>
          <a:xfrm>
            <a:off x="8439912" y="5550408"/>
            <a:ext cx="1847088" cy="1188720"/>
          </a:xfrm>
          <a:prstGeom prst="rect">
            <a:avLst/>
          </a:prstGeom>
        </p:spPr>
      </p:pic>
      <p:pic>
        <p:nvPicPr>
          <p:cNvPr id="12" name="Picture 11" descr="title_d.jpg"/>
          <p:cNvPicPr>
            <a:picLocks noChangeAspect="1"/>
          </p:cNvPicPr>
          <p:nvPr/>
        </p:nvPicPr>
        <p:blipFill>
          <a:blip r:embed="rId6"/>
          <a:srcRect t="8086" b="8086"/>
          <a:stretch>
            <a:fillRect/>
          </a:stretch>
        </p:blipFill>
        <p:spPr>
          <a:xfrm>
            <a:off x="10405872" y="5577840"/>
            <a:ext cx="1847088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ระบบ ESM ตอนนี้ประกอบด้วยอะไร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ภาษาหน้างาน = บรรทัดบน · คำที่ไอทีใช้ = บรรทัดล่าง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10312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1920239" cy="10424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ผู้ใช้ ~70 คน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PC · มือถือ · จอ TV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737360"/>
            <a:ext cx="256032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810512"/>
            <a:ext cx="2377439" cy="10424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หน้าเว็บ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Static site (React + Vite)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อยู่บน Render.com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486400" cy="3429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68734"/>
                </a:solidFill>
                <a:latin typeface="Tahoma"/>
              </a:rPr>
              <a:t>Supabase (คลาวด์) — 2 project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965960"/>
            <a:ext cx="25146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039112"/>
            <a:ext cx="2331720" cy="9966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ฐานข้อมูล Main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PostgreSQL · 277 MB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คน · สิทธิ์ · 4M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965960"/>
            <a:ext cx="25146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2039112"/>
            <a:ext cx="2331720" cy="9966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ฐานข้อมูล DR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PostgreSQL · 198 MB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ยอดผลิต · เครื่องหยุด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246120"/>
            <a:ext cx="25146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46120"/>
            <a:ext cx="251460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ล็อกอิน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Auth (JWT)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246120"/>
            <a:ext cx="25146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3246120"/>
            <a:ext cx="251460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จอขยับเอง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Realtime (WebSocket)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069080"/>
            <a:ext cx="25146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069080"/>
            <a:ext cx="251460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หลังบ้าน 24 ตัว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Edge Functions (Deno)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4069080"/>
            <a:ext cx="25146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4069080"/>
            <a:ext cx="251460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ไฟล์/รูป 212 MB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Object storage (S3)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60320" y="2331720"/>
            <a:ext cx="594360" cy="0"/>
          </a:xfrm>
          <a:prstGeom prst="line">
            <a:avLst/>
          </a:prstGeom>
          <a:ln w="25400">
            <a:solidFill>
              <a:srgbClr val="06873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715000" y="2331720"/>
            <a:ext cx="731520" cy="182880"/>
          </a:xfrm>
          <a:prstGeom prst="line">
            <a:avLst/>
          </a:prstGeom>
          <a:ln w="25400">
            <a:solidFill>
              <a:srgbClr val="06873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3246120"/>
            <a:ext cx="557784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95323"/>
                </a:solidFill>
                <a:latin typeface="Tahoma"/>
              </a:rPr>
              <a:t>ระบบต้องคุยกับภายนอก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67328"/>
            <a:ext cx="109728" cy="23774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657600"/>
            <a:ext cx="539496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Telegram  </a:t>
            </a:r>
            <a:r>
              <a:rPr sz="1300" b="0" i="0">
                <a:solidFill>
                  <a:srgbClr val="555555"/>
                </a:solidFill>
                <a:latin typeface="Tahoma"/>
              </a:rPr>
              <a:t>ส่งแจ้งเตือน + รับข้อความตอบ (webhook เข้า)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24528"/>
            <a:ext cx="109728" cy="23774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114800"/>
            <a:ext cx="539496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Push มือถือ  </a:t>
            </a:r>
            <a:r>
              <a:rPr sz="1300" b="0" i="0">
                <a:solidFill>
                  <a:srgbClr val="555555"/>
                </a:solidFill>
                <a:latin typeface="Tahoma"/>
              </a:rPr>
              <a:t>ผ่าน push service ของ Google / Apple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81728"/>
            <a:ext cx="109728" cy="23774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572000"/>
            <a:ext cx="539496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ไฟล์ EDI ลูกค้า  </a:t>
            </a:r>
            <a:r>
              <a:rPr sz="1300" b="0" i="0">
                <a:solidFill>
                  <a:srgbClr val="555555"/>
                </a:solidFill>
                <a:latin typeface="Tahoma"/>
              </a:rPr>
              <a:t>สคริปต์ดึงจาก Outlook ส่งเข้าระบบ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138928"/>
            <a:ext cx="109728" cy="23774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029200"/>
            <a:ext cx="539496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งานตามเวลา  </a:t>
            </a:r>
            <a:r>
              <a:rPr sz="1300" b="0" i="0">
                <a:solidFill>
                  <a:srgbClr val="555555"/>
                </a:solidFill>
                <a:latin typeface="Tahoma"/>
              </a:rPr>
              <a:t>pg_cron 12 งาน + pg_net ยิงหาหลังบ้าน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623560"/>
            <a:ext cx="11292840" cy="548640"/>
          </a:xfrm>
          <a:prstGeom prst="round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ข้อมูลรวมไม่ถึง 1 GB · ผู้ใช้ราว 70 คน  ·  </a:t>
            </a:r>
            <a:r>
              <a:rPr sz="1500" b="1" i="0">
                <a:solidFill>
                  <a:srgbClr val="FFFFFF"/>
                </a:solidFill>
                <a:latin typeface="Tahoma"/>
              </a:rPr>
              <a:t>ระบบเล็ก ไม่ต้องใช้เครื่องแรง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ทางเลือกการย้าย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ขอให้ไอทีช่วยตัดสิน — ฝั่งผู้ใช้เสนอ A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3657600" cy="4160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5323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731520" cy="7315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D95323"/>
                </a:solidFill>
                <a:latin typeface="Tahoma"/>
              </a:rPr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828800"/>
            <a:ext cx="1143000" cy="365760"/>
          </a:xfrm>
          <a:prstGeom prst="round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828800"/>
            <a:ext cx="114300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ข้อเสนอ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3200400" cy="1005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ติดตั้ง Supabase บนเซิร์ฟเวอร์บริษัท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self-host ด้วย Docker + nginx เสิร์ฟหน้าเว็บ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แก้โค้ด: </a:t>
            </a:r>
            <a:r>
              <a:rPr sz="1300" b="0" i="0">
                <a:solidFill>
                  <a:srgbClr val="0D3D14"/>
                </a:solidFill>
                <a:latin typeface="Tahoma"/>
              </a:rPr>
              <a:t>แทบไม่แก้ — เปลี่ยน URL /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86200"/>
            <a:ext cx="3200400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ข้อดี: ใกล้ของเดิมที่สุด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ข้อดี: ข้อมูลอยู่ในบ้าน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54880"/>
            <a:ext cx="3200400" cy="9144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D95323"/>
                </a:solidFill>
                <a:latin typeface="Tahoma"/>
              </a:rPr>
              <a:t>ข้อเสีย: ไอทีดูแล Docker เอง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D95323"/>
                </a:solidFill>
                <a:latin typeface="Tahoma"/>
              </a:rPr>
              <a:t>ข้อเสีย: backup · อัปเดต · SSL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600200"/>
            <a:ext cx="365760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737360"/>
            <a:ext cx="731520" cy="7315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23160"/>
            <a:ext cx="3200400" cy="1005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คงคลาวด์ ให้ไอทีคุมบัญชี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โอนบัญชีเป็นของบริษัท · จ่ายแพ็กเกจ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74720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แก้โค้ด: </a:t>
            </a:r>
            <a:r>
              <a:rPr sz="1300" b="0" i="0">
                <a:solidFill>
                  <a:srgbClr val="0D3D14"/>
                </a:solidFill>
                <a:latin typeface="Tahoma"/>
              </a:rPr>
              <a:t>ไม่ต้องแก้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886200"/>
            <a:ext cx="3200400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ข้อดี: เร็วที่สุด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ข้อดี: Supabase ทำ backup ให้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754880"/>
            <a:ext cx="3200400" cy="9144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D95323"/>
                </a:solidFill>
                <a:latin typeface="Tahoma"/>
              </a:rPr>
              <a:t>ข้อเสีย: ข้อมูลยังอยู่นอกบริษัท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D95323"/>
                </a:solidFill>
                <a:latin typeface="Tahoma"/>
              </a:rPr>
              <a:t>ข้อเสีย: มีค่ารายเดือน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600200"/>
            <a:ext cx="365760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737360"/>
            <a:ext cx="731520" cy="7315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423160"/>
            <a:ext cx="3200400" cy="1005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เขียนใหม่ลงฐานข้อมูลที่บริษัทใช้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เช่น SQL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474720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แก้โค้ด: </a:t>
            </a:r>
            <a:r>
              <a:rPr sz="1300" b="0" i="0">
                <a:solidFill>
                  <a:srgbClr val="0D3D14"/>
                </a:solidFill>
                <a:latin typeface="Tahoma"/>
              </a:rPr>
              <a:t>แก้หนักมาก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886200"/>
            <a:ext cx="3200400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ข้อดี: ใช้ระบบเดียวกับที่ไอทีคุ้นเคย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754880"/>
            <a:ext cx="3200400" cy="9144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D95323"/>
                </a:solidFill>
                <a:latin typeface="Tahoma"/>
              </a:rPr>
              <a:t>ข้อเสีย: ต้องทำล็อกอิน realtime หลังบ้านใหม่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D95323"/>
                </a:solidFill>
                <a:latin typeface="Tahoma"/>
              </a:rPr>
              <a:t>ข้อเสีย: ใช้เวลาหลายเดือน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52160"/>
            <a:ext cx="1124712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ถ้าไอทียังไม่พร้อมดูแล Docker: ใช้ B ชั่วคราวไปก่อน แล้วค่อยย้ายเป็น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150" b="1" i="0">
                <a:solidFill>
                  <a:srgbClr val="068734"/>
                </a:solidFill>
                <a:latin typeface="Tahoma"/>
              </a:rPr>
              <a:t>ถ้าย้ายเข้าบ้าน (ทางเลือก A) ต้องเตรียมอะไร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50" b="1" i="0">
                <a:solidFill>
                  <a:srgbClr val="068734"/>
                </a:solidFill>
                <a:latin typeface="Tahoma"/>
              </a:rPr>
              <a:t>ตัวเลขสเปกเป็นค่าเริ่มต้น — ไอทียืนยันจากเอกสาร Supabase อีกครั้ง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269748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697480" cy="45720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69748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เครื่อง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377440" cy="18288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~4 vCPU · 8 GB RAM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ดิสก์ 100 GB (เผื่อโต)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รัน Docker 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600200"/>
            <a:ext cx="269748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600200"/>
            <a:ext cx="2697480" cy="45720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600200"/>
            <a:ext cx="269748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เน็ตออก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94560"/>
            <a:ext cx="2377440" cy="18288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Telegram API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push service Google / Apple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GitHub (ดึงโค้ดไป build)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600200"/>
            <a:ext cx="269748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600200"/>
            <a:ext cx="2697480" cy="45720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600200"/>
            <a:ext cx="269748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เน็ตเข้า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377440" cy="18288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Telegram webhook ต้องมี HTTPS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ใช้จากมือถือนอกโรงงานไหม?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ต้องมีโดเมน + SSL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600200"/>
            <a:ext cx="269748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600200"/>
            <a:ext cx="2697480" cy="45720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600200"/>
            <a:ext cx="269748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ดูแลต่อเนื่อง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194560"/>
            <a:ext cx="2377440" cy="18288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pg_dump รายวัน + backup ไฟล์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อัปเดต Supabase เป็นระยะ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deploy อัตโนมัติเมื่อโค้ดใหม่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43400"/>
            <a:ext cx="1129284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128016" cy="150876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34840"/>
            <a:ext cx="10789920" cy="1371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95323"/>
                </a:solidFill>
                <a:latin typeface="Tahoma"/>
              </a:rPr>
              <a:t>ความปลอดภัย — บอกตรงๆ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ฐานข้อมูล DR ตอนนี้หน้าเว็บเข้าด้วยกุญแจสาธารณะ (anon key) ยังไม่ผูกกับการล็อกอิน — เป็นจุดอ่อนที่รู้อยู่และมีแผนแก้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ถ้าย้ายเข้าวงในบริษัทและไม่เปิดออกอินเทอร์เน็ต ความเสี่ยงข้อนี้ลดลงมาก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ภาพเมื่อขยายไปหลายโรงงานในกลุ่ม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68734"/>
                </a:solidFill>
                <a:latin typeface="Tahoma"/>
              </a:rPr>
              <a:t>ศูนย์กลางเดียวที่ INET · ทุกโรงงานใช้โปรแกรมชุดเดียวกัน · ข้อมูลแยกกันด้วยรหัสบริษัท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29184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68734"/>
                </a:solidFill>
                <a:latin typeface="Tahoma"/>
              </a:rPr>
              <a:t>โรงงาน (เพิ่มได้เรื่อยๆ)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329184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5323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01752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95323"/>
                </a:solidFill>
                <a:latin typeface="Tahoma"/>
              </a:rPr>
              <a:t>TSAT4 (เรา)</a:t>
            </a:r>
            <a:r>
              <a:rPr sz="1100" b="0" i="0">
                <a:solidFill>
                  <a:srgbClr val="555555"/>
                </a:solidFill>
                <a:latin typeface="Tahoma"/>
              </a:rPr>
              <a:t>  ใช้งานจริง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960120" cy="548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96012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PC · จอ TV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240280"/>
            <a:ext cx="960120" cy="548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240280"/>
            <a:ext cx="96012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มือถือ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39" y="2240280"/>
            <a:ext cx="960120" cy="548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39" y="2240280"/>
            <a:ext cx="96012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กล่อง Edge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063239"/>
            <a:ext cx="329184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08959"/>
            <a:ext cx="301752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โรงงานในไทย</a:t>
            </a:r>
            <a:r>
              <a:rPr sz="1100" b="0" i="0">
                <a:solidFill>
                  <a:srgbClr val="555555"/>
                </a:solidFill>
                <a:latin typeface="Tahoma"/>
              </a:rPr>
              <a:t>  TSAT1 · TSLA 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66159"/>
            <a:ext cx="960120" cy="548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66159"/>
            <a:ext cx="96012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PC · จอ TV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3566159"/>
            <a:ext cx="960120" cy="548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566159"/>
            <a:ext cx="96012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มือถือ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06039" y="3566159"/>
            <a:ext cx="960120" cy="548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39" y="3566159"/>
            <a:ext cx="96012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กล่อง Edge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389120"/>
            <a:ext cx="329184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34840"/>
            <a:ext cx="301752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ต่างประเทศ</a:t>
            </a:r>
            <a:r>
              <a:rPr sz="1100" b="0" i="0">
                <a:solidFill>
                  <a:srgbClr val="555555"/>
                </a:solidFill>
                <a:latin typeface="Tahoma"/>
              </a:rPr>
              <a:t>  เวียดนาม · อินเดีย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92040"/>
            <a:ext cx="960120" cy="548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92040"/>
            <a:ext cx="96012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PC · จอ TV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54480" y="4892040"/>
            <a:ext cx="960120" cy="548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4892040"/>
            <a:ext cx="96012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มือถือ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06039" y="4892040"/>
            <a:ext cx="960120" cy="548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6039" y="4892040"/>
            <a:ext cx="96012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กล่อง Edge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69080" y="2011680"/>
            <a:ext cx="233172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2057400"/>
            <a:ext cx="2148840" cy="11430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VPN ระหว่างไซต์ / IP whitelist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PC · จอ TV · กล่อง Edge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69080" y="3611880"/>
            <a:ext cx="233172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0520" y="3657600"/>
            <a:ext cx="2148840" cy="11430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Cloudflare Zero Trust + SSO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มือถือ · ล็อกอินด้วยบัญชี M365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657600" y="2331720"/>
            <a:ext cx="411480" cy="228600"/>
          </a:xfrm>
          <a:prstGeom prst="line">
            <a:avLst/>
          </a:prstGeom>
          <a:ln w="25400">
            <a:solidFill>
              <a:srgbClr val="06873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657600" y="2743200"/>
            <a:ext cx="411480" cy="914400"/>
          </a:xfrm>
          <a:prstGeom prst="line">
            <a:avLst/>
          </a:prstGeom>
          <a:ln w="25400">
            <a:solidFill>
              <a:srgbClr val="06873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657600" y="2926080"/>
            <a:ext cx="411480" cy="2057400"/>
          </a:xfrm>
          <a:prstGeom prst="line">
            <a:avLst/>
          </a:prstGeom>
          <a:ln w="25400">
            <a:solidFill>
              <a:srgbClr val="06873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57600" y="2468880"/>
            <a:ext cx="411480" cy="1645920"/>
          </a:xfrm>
          <a:prstGeom prst="line">
            <a:avLst/>
          </a:prstGeom>
          <a:ln w="25400">
            <a:solidFill>
              <a:srgbClr val="06873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657600" y="3794760"/>
            <a:ext cx="411480" cy="411480"/>
          </a:xfrm>
          <a:prstGeom prst="line">
            <a:avLst/>
          </a:prstGeom>
          <a:ln w="25400">
            <a:solidFill>
              <a:srgbClr val="06873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657600" y="4297680"/>
            <a:ext cx="411480" cy="822960"/>
          </a:xfrm>
          <a:prstGeom prst="line">
            <a:avLst/>
          </a:prstGeom>
          <a:ln w="25400">
            <a:solidFill>
              <a:srgbClr val="06873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00800" y="2606040"/>
            <a:ext cx="365760" cy="0"/>
          </a:xfrm>
          <a:prstGeom prst="line">
            <a:avLst/>
          </a:prstGeom>
          <a:ln w="25400">
            <a:solidFill>
              <a:srgbClr val="06873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400800" y="4206240"/>
            <a:ext cx="365760" cy="0"/>
          </a:xfrm>
          <a:prstGeom prst="line">
            <a:avLst/>
          </a:prstGeom>
          <a:ln w="25400">
            <a:solidFill>
              <a:srgbClr val="06873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766560" y="1371600"/>
            <a:ext cx="5029200" cy="42519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1417320"/>
            <a:ext cx="475488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ศูนย์กลาง ESM ที่ INET — Kubernetes 3 เครื่อง (ล่ม 1 ยังวิ่ง)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1828800"/>
            <a:ext cx="23317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1828800"/>
            <a:ext cx="2331720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หน้าเว็บ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image เดียว ทุกโรงงาน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828800"/>
            <a:ext cx="23317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1828800"/>
            <a:ext cx="2331720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ล็อกอิน + สิทธิ์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SSO · role ต่อบริษัท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03720" y="2724912"/>
            <a:ext cx="23317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2724912"/>
            <a:ext cx="2331720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ฐานข้อมูล Main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คน · ผังองค์กร TSG→บริษัท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26880" y="2724912"/>
            <a:ext cx="23317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2724912"/>
            <a:ext cx="2331720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ฐานข้อมูล DR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ข้อมูลผลิต · แยกด้วย company_id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03720" y="3621024"/>
            <a:ext cx="23317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3621024"/>
            <a:ext cx="2331720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หลังบ้าน + cron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แจ้งเตือน · สแกน PM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6880" y="3621024"/>
            <a:ext cx="23317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3621024"/>
            <a:ext cx="2331720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รายงานรวมกลุ่ม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OBEYA · Group Overview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03720" y="4553712"/>
            <a:ext cx="475488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40880" y="4553712"/>
            <a:ext cx="4526280" cy="9601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Backup นอกไซต์ (data center ที่ 2)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D3D14"/>
                </a:solidFill>
                <a:latin typeface="Tahoma"/>
              </a:rPr>
              <a:t>ฐานข้อมูล + ไฟล์ทุกวัน · ทดลองกู้คืนจริงปีละครั้ง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1920" y="4937760"/>
            <a:ext cx="269748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กล่อง Edge: </a:t>
            </a:r>
            <a:r>
              <a:rPr sz="1100" b="0" i="0">
                <a:solidFill>
                  <a:srgbClr val="555555"/>
                </a:solidFill>
                <a:latin typeface="Tahoma"/>
              </a:rPr>
              <a:t>รับสัญญาณเครื่องจักร + ไฟล์ EDI ส่งเข้าศูนย์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ภายนอก: </a:t>
            </a:r>
            <a:r>
              <a:rPr sz="1100" b="0" i="0">
                <a:solidFill>
                  <a:srgbClr val="555555"/>
                </a:solidFill>
                <a:latin typeface="Tahoma"/>
              </a:rPr>
              <a:t>Telegram · Push · GitHub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" y="5806440"/>
            <a:ext cx="11430000" cy="411480"/>
          </a:xfrm>
          <a:prstGeom prst="round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เพิ่มโรงงาน = เพิ่มรหัสบริษัท + ผู้ใช้ + ทะเบียน  ·  ไม่ต้องตั้งเซิร์ฟเวอร์ใหม่ทุกโรงงาน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068734"/>
                </a:solidFill>
                <a:latin typeface="Tahoma"/>
              </a:rPr>
              <a:t>ขยายทีละขั้น · อะไรใช้ร่วม อะไรแยกต่อโรงงาน</a:t>
            </a:r>
          </a:p>
        </p:txBody>
      </p:sp>
      <p:pic>
        <p:nvPicPr>
          <p:cNvPr id="3" name="Picture 2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5760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5323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57600" cy="45720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36576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ขั้น 1  ·  TSAT4 ย้ายขึ้น INET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1645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เครื่องตามผังไอที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pipeline อัปเดตอัตโนมัติ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backup + มือถือเข้าได้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17320"/>
            <a:ext cx="36576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657600" cy="45720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417320"/>
            <a:ext cx="36576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ขั้น 2  ·  เตรียมรองรับหลายบริษัท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200400" cy="1645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ใส่ company_id + สิทธิ์ต่อบริษัท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ปิดช่องโหว่ฐานข้อมูล DR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SSO ด้วยบัญชี M365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6576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3657600" cy="45720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417320"/>
            <a:ext cx="36576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ขั้น 3  ·  โรงงานนำร่องที่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3200400" cy="1645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VPN + กล่อง Edge ที่ไซต์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ขยายเป็น 3 เครื่อง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แล้วค่อยเพิ่มทีละโรงงาน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77639"/>
            <a:ext cx="5577840" cy="1691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77639"/>
            <a:ext cx="128016" cy="1691640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41648"/>
            <a:ext cx="5120640" cy="1600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68734"/>
                </a:solidFill>
                <a:latin typeface="Tahoma"/>
              </a:rPr>
              <a:t>ใช้ร่วมทุกโรงงาน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โปรแกรม + สูตรคำนวณ (OEE ฯลฯ) ชุดเดียว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เซิร์ฟเวอร์ · backup · ทีมดูแล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ล็อกอิน SSO · จอรวมกลุ่ม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977639"/>
            <a:ext cx="5577840" cy="1691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977639"/>
            <a:ext cx="128016" cy="169164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041648"/>
            <a:ext cx="5120640" cy="1600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D95323"/>
                </a:solidFill>
                <a:latin typeface="Tahoma"/>
              </a:rPr>
              <a:t>แยกต่อโรงงาน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ข้อมูลผลิต / คน (ด้วย company_id)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ปฏิทิน · เวลาพัก · เป้า KPI · ผังโรงงาน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เลขฟอร์มเอกสาร · ห้อง Telegram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95323"/>
                </a:solidFill>
                <a:latin typeface="Tahoma"/>
              </a:rPr>
              <a:t>ต้องทำขั้น 2 ก่อนรับโรงงานที่ 2 — ไม่งั้นโรงงานหนึ่งจะมองเห็นข้อมูลของอีกโรงงานได้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ขอคำตอบจากไอที + ขั้นต่อไป</a:t>
            </a:r>
          </a:p>
        </p:txBody>
      </p:sp>
      <p:pic>
        <p:nvPicPr>
          <p:cNvPr id="3" name="Picture 2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66751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63093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D3D14"/>
                </a:solidFill>
                <a:latin typeface="Tahoma"/>
              </a:rPr>
              <a:t>คำถามถึงไอที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112264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12264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57400"/>
            <a:ext cx="576072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D3D14"/>
                </a:solidFill>
                <a:latin typeface="Tahoma"/>
              </a:rPr>
              <a:t>มีเครื่องที่รัน Docker ได้ไหม / ใช้ VM ตัวไหน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734056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34056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79192"/>
            <a:ext cx="576072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D3D14"/>
                </a:solidFill>
                <a:latin typeface="Tahoma"/>
              </a:rPr>
              <a:t>ใช้เฉพาะในโรงงาน หรือต้องเข้าจากมือถือนอกบริษัทด้วย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355848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55848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00984"/>
            <a:ext cx="576072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D3D14"/>
                </a:solidFill>
                <a:latin typeface="Tahoma"/>
              </a:rPr>
              <a:t>มีโดเมนบริษัทให้ใช้ไหม · ใครออกใบรับรอง SSL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977639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22776"/>
            <a:ext cx="576072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D3D14"/>
                </a:solidFill>
                <a:latin typeface="Tahoma"/>
              </a:rPr>
              <a:t>นโยบาย backup / เก็บข้อมูลของบริษัท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599432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99432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544568"/>
            <a:ext cx="576072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D3D14"/>
                </a:solidFill>
                <a:latin typeface="Tahoma"/>
              </a:rPr>
              <a:t>ใครเป็นผู้ดูแลเครื่อง · ใครได้สิทธิ์ admin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221224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221224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166360"/>
            <a:ext cx="576072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D3D14"/>
                </a:solidFill>
                <a:latin typeface="Tahoma"/>
              </a:rPr>
              <a:t>เครื่องในบริษัทออกไป Telegram / push มือถือได้ไหม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1463040"/>
            <a:ext cx="438912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1554480"/>
            <a:ext cx="4023360" cy="2240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D3D14"/>
                </a:solidFill>
                <a:latin typeface="Tahoma"/>
              </a:rPr>
              <a:t>ขั้นต่อไป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ยืนยันผังไอที + ตอบคำถามข้างซ้าย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ทำแผนย้ายทีละขั้น + วิธีย้อนกลับ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ทดลองคู่ขนานก่อนสลับจริง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•  ย้ายจริง หลัง roadshow ปลาย ต.ค.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4023360"/>
            <a:ext cx="438912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4114800"/>
            <a:ext cx="4023360" cy="17373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D95323"/>
                </a:solidFill>
                <a:latin typeface="Tahoma"/>
              </a:rPr>
              <a:t>ยังไม่รับปาก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วันย้ายเสร็จ — รอไอทีประเมิน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ย้ายแล้ว 'ไม่ต้องแก้อะไรเลย'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ค่าใช้จ่าย — ขึ้นกับเครื่องที่มี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