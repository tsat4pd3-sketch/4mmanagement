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สรุปต้นทุน 2 เรื่อง: (1) พัฒนามาแล้ว 5 เดือนใช้เงินไปเท่าไหร่ (2) ถ้าย้ายระบบขึ้นเซิร์ฟเวอร์ INET ค่าใช้จ่ายต่อปีเปลี่ยนไปอย่างไร ตัวเลขทั้งหมดไม่รวมค่าแรง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พัฒนามา 5 เดือน ค่าเครื่องมือและค่าเช่าระบบรวมประมาณ 32,000 บาท ส่วนใหญ่เป็นค่า Claude ที่ใช้เขียนโปรแกรม ค่าระบบจริงเดือนละประมาณ 1,300 บาท ย้ำว่าไม่รวมเวลาของคนในทีม เรทแลกเปลี่ยนใช้ 35 บาทต่อดอลลาร์ (ตั้งสูงไว้เผื่อ) ค่า Supabase รอบ ก.ย. เป็นค่าประมาณ รอบ ต.ค. ใบแจ้งหนี้จริง 36.70 USD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แท่งบน: ตอนนี้ค่าระบบประมาณ 18,000 บาทต่อปี บวก Claude 84,000 รวมราว 102,000 บาทต่อปี  แท่งล่าง: หลังย้าย INET 120,000 บาทต่อปี บวก Claude 84,000 รวม 204,000 บาทต่อปี  ค่าระบบเพิ่มประมาณ 8,500 บาทต่อเดือน หรือราว 100,000 บาทต่อปี ราคา INET ไอทีแจ้งมา ยังต้องยืนยันว่ารวม VAT และ backup หรือยัง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เงินที่เพิ่มแลกกับ 3 เรื่อง: ไม่โดนล็อกเพราะเกินโควตาเหมือน 11 ก.ย. เครื่องแรงพอสำหรับการขยาย และข้อมูลอยู่ในไทยภายใต้การดูแลของไอที  ด้านขวา: ถ้าโรงงานอื่นในกลุ่มมาใช้เครื่องเดียวกัน ค่า INET ต่อโรงงานลดลงตามจำนวน 5 โรงงานเหลือ 24,000 บาทต่อปี  แต่ถ้าหลายโรงงานควรมี 3 เครื่อง ราคาจะต่างจากนี้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ปิดด้วยคำถาม 6 ข้อที่ต้องได้คำตอบก่อนเซ็น และบอกสมมติฐานของตัวเลขให้ครบ โดยเฉพาะข้อแรกของสมมติฐาน: ตัวเลขทั้งหมดไม่รวมค่าแรง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56032"/>
            <a:ext cx="1143000" cy="1143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1517904"/>
            <a:ext cx="11091672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068734"/>
                </a:solidFill>
                <a:latin typeface="Tahoma"/>
              </a:rPr>
              <a:t>สรุปต้นทุนระบบ ESM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94560"/>
            <a:ext cx="110916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D95323"/>
                </a:solidFill>
                <a:latin typeface="Tahoma"/>
              </a:rPr>
              <a:t>ใช้ไปแล้วเท่าไหร่ · ก่อนและหลังย้ายไปเซิร์ฟเวอร์ INET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70048"/>
            <a:ext cx="8531352" cy="8686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20 ตุลาคม 2569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068734"/>
                </a:solidFill>
                <a:latin typeface="Tahoma"/>
              </a:rPr>
              <a:t>TSAT · 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3959352"/>
            <a:ext cx="578815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1">
                <a:solidFill>
                  <a:srgbClr val="068734"/>
                </a:solidFill>
                <a:latin typeface="Tahoma"/>
              </a:rPr>
              <a:t>คำประกาศคุณภาพของฉัน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443484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“I will not accept, produce and deliver non-quality work”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4846320"/>
            <a:ext cx="8348472" cy="3657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700" b="0" i="0">
                <a:solidFill>
                  <a:srgbClr val="068734"/>
                </a:solidFill>
                <a:latin typeface="Tahoma"/>
              </a:rPr>
              <a:t>“ผมจะไม่รับ, ไม่ทำและไม่ส่งมอบงานที่ไม่มีคุณภาพ”</a:t>
            </a:r>
          </a:p>
        </p:txBody>
      </p:sp>
      <p:pic>
        <p:nvPicPr>
          <p:cNvPr id="9" name="Picture 8" descr="title_a.jpg"/>
          <p:cNvPicPr>
            <a:picLocks noChangeAspect="1"/>
          </p:cNvPicPr>
          <p:nvPr/>
        </p:nvPicPr>
        <p:blipFill>
          <a:blip r:embed="rId3"/>
          <a:srcRect l="118" r="118"/>
          <a:stretch>
            <a:fillRect/>
          </a:stretch>
        </p:blipFill>
        <p:spPr>
          <a:xfrm>
            <a:off x="4434840" y="5577840"/>
            <a:ext cx="1920240" cy="1161288"/>
          </a:xfrm>
          <a:prstGeom prst="rect">
            <a:avLst/>
          </a:prstGeom>
        </p:spPr>
      </p:pic>
      <p:pic>
        <p:nvPicPr>
          <p:cNvPr id="10" name="Picture 9" descr="title_b.jpg"/>
          <p:cNvPicPr>
            <a:picLocks noChangeAspect="1"/>
          </p:cNvPicPr>
          <p:nvPr/>
        </p:nvPicPr>
        <p:blipFill>
          <a:blip r:embed="rId4"/>
          <a:srcRect l="4710" r="4710"/>
          <a:stretch>
            <a:fillRect/>
          </a:stretch>
        </p:blipFill>
        <p:spPr>
          <a:xfrm>
            <a:off x="6473952" y="5577840"/>
            <a:ext cx="1856231" cy="1152144"/>
          </a:xfrm>
          <a:prstGeom prst="rect">
            <a:avLst/>
          </a:prstGeom>
        </p:spPr>
      </p:pic>
      <p:pic>
        <p:nvPicPr>
          <p:cNvPr id="11" name="Picture 10" descr="title_c.jpg"/>
          <p:cNvPicPr>
            <a:picLocks noChangeAspect="1"/>
          </p:cNvPicPr>
          <p:nvPr/>
        </p:nvPicPr>
        <p:blipFill>
          <a:blip r:embed="rId5"/>
          <a:srcRect l="15297" r="15297"/>
          <a:stretch>
            <a:fillRect/>
          </a:stretch>
        </p:blipFill>
        <p:spPr>
          <a:xfrm>
            <a:off x="8439912" y="5550408"/>
            <a:ext cx="1847088" cy="1188720"/>
          </a:xfrm>
          <a:prstGeom prst="rect">
            <a:avLst/>
          </a:prstGeom>
        </p:spPr>
      </p:pic>
      <p:pic>
        <p:nvPicPr>
          <p:cNvPr id="12" name="Picture 11" descr="title_d.jpg"/>
          <p:cNvPicPr>
            <a:picLocks noChangeAspect="1"/>
          </p:cNvPicPr>
          <p:nvPr/>
        </p:nvPicPr>
        <p:blipFill>
          <a:blip r:embed="rId6"/>
          <a:srcRect t="8086" b="8086"/>
          <a:stretch>
            <a:fillRect/>
          </a:stretch>
        </p:blipFill>
        <p:spPr>
          <a:xfrm>
            <a:off x="10405872" y="5577840"/>
            <a:ext cx="1847088" cy="11612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ต้นทุนที่ใช้ไปแล้ว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13 พ.ค. – 20 ต.ค. 2569 (ประมาณ 5 เดือน) · ไม่รวมค่าแรง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3611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09728" cy="132588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3200400" cy="72923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D95323"/>
                </a:solidFill>
                <a:latin typeface="Tahoma"/>
              </a:rPr>
              <a:t>~32,000 บาท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58568"/>
            <a:ext cx="3200400" cy="4773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รวมทั้งหมดตั้งแต่เริ่ม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1463040"/>
            <a:ext cx="3611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463040"/>
            <a:ext cx="109728" cy="132588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53712" y="1572768"/>
            <a:ext cx="3200400" cy="72923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83 หน้าจอ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258568"/>
            <a:ext cx="3200400" cy="4773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ใช้งานจริงทุกวัน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463040"/>
            <a:ext cx="3611880" cy="1325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1463040"/>
            <a:ext cx="109728" cy="132588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1572768"/>
            <a:ext cx="3200400" cy="72923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68734"/>
                </a:solidFill>
                <a:latin typeface="Tahoma"/>
              </a:rPr>
              <a:t>121 บัญชี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258568"/>
            <a:ext cx="3200400" cy="4773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ผู้ใช้ในระบบ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11256264" cy="41148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17520"/>
            <a:ext cx="45720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รายการ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017520"/>
            <a:ext cx="42062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วิธีคิด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17520"/>
            <a:ext cx="21488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บาท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3429000"/>
            <a:ext cx="45720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Claude Max 20x (เครื่องมือเขียนโปรแกรม)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429000"/>
            <a:ext cx="42062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4 เดือน ก.ค.–ต.ค. × 200 USD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429000"/>
            <a:ext cx="21488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28,000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13048"/>
            <a:ext cx="11256264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13048"/>
            <a:ext cx="45720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Claude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3813048"/>
            <a:ext cx="42062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2 เดือน พ.ค.–มิ.ย. × 20 USD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813048"/>
            <a:ext cx="21488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1,400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4197096"/>
            <a:ext cx="45720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Supabase (ฐานข้อมูลบนคลาวด์)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197096"/>
            <a:ext cx="42062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ฟรีถึง 10 ก.ย. · Pro 2 รอบบิล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197096"/>
            <a:ext cx="21488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~2,600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581144"/>
            <a:ext cx="11256264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4581144"/>
            <a:ext cx="45720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Render (หน้าเว็บ)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4581144"/>
            <a:ext cx="42062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ฟรี · เพดานเดือน ต.ค. 5 USD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581144"/>
            <a:ext cx="21488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~175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965192"/>
            <a:ext cx="457200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GitHub · Telegram · Push · ฮาร์ดแวร์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4965192"/>
            <a:ext cx="42062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ฟรี / ใช้ของที่มีอยู่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18320" y="4965192"/>
            <a:ext cx="214884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349240"/>
            <a:ext cx="11256264" cy="1828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4360" y="5394959"/>
            <a:ext cx="731520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รวม  ·  Claude 92%  ·  คลาวด์ + หน้าเว็บ 8%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5394959"/>
            <a:ext cx="2148840" cy="4114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D95323"/>
                </a:solidFill>
                <a:latin typeface="Tahoma"/>
              </a:rPr>
              <a:t>~32,000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350" b="1" i="0">
                <a:solidFill>
                  <a:srgbClr val="068734"/>
                </a:solidFill>
                <a:latin typeface="Tahoma"/>
              </a:rPr>
              <a:t>ค่าใช้จ่ายต่อปี: ก่อน vs หลังย้ายไป INET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ไม่รวมค่าแรง · Claude ยังจ่ายเท่าเดิมทั้ง 2 แบบ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21945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D3D14"/>
                </a:solidFill>
                <a:latin typeface="Tahoma"/>
              </a:rPr>
              <a:t>ตอนนี้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1945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Supabase + Render บนคลาวด์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737360"/>
            <a:ext cx="595666" cy="822960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8866" y="1737360"/>
            <a:ext cx="2779775" cy="8229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8866" y="1737360"/>
            <a:ext cx="2779775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Claude 84,000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5802" y="1737360"/>
            <a:ext cx="2011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D3D14"/>
                </a:solidFill>
                <a:latin typeface="Tahoma"/>
              </a:rPr>
              <a:t>102,000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บาท/ปี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78608"/>
            <a:ext cx="3200400" cy="3200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68734"/>
                </a:solidFill>
                <a:latin typeface="Tahoma"/>
              </a:rPr>
              <a:t>ค่าระบบ 18,000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91840"/>
            <a:ext cx="219456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5323"/>
                </a:solidFill>
                <a:latin typeface="Tahoma"/>
              </a:rPr>
              <a:t>หลังย้าย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749039"/>
            <a:ext cx="2194560" cy="4572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เซิร์ฟเวอร์ INET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337560"/>
            <a:ext cx="3971108" cy="822960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3337560"/>
            <a:ext cx="3971108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ค่าระบบ 120,000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14308" y="3337560"/>
            <a:ext cx="2779775" cy="8229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4308" y="3337560"/>
            <a:ext cx="2779775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Claude 84,000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1244" y="3337560"/>
            <a:ext cx="2011680" cy="8229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D95323"/>
                </a:solidFill>
                <a:latin typeface="Tahoma"/>
              </a:rPr>
              <a:t>204,000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Tahoma"/>
              </a:rPr>
              <a:t>บาท/ปี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83480"/>
            <a:ext cx="9784080" cy="365760"/>
          </a:xfrm>
          <a:prstGeom prst="rect">
            <a:avLst/>
          </a:prstGeom>
          <a:solidFill>
            <a:srgbClr val="0D3D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2468879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983480"/>
            <a:ext cx="21945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ตอนนี้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4983480"/>
            <a:ext cx="21945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หลังย้าย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4983480"/>
            <a:ext cx="2194560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Tahoma"/>
              </a:rPr>
              <a:t>ส่วนต่าง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349240"/>
            <a:ext cx="2468879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ค่าระบบ / เดือน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49240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~1,500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5349240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10,000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5349240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+8,500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733288"/>
            <a:ext cx="978408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733288"/>
            <a:ext cx="2468879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0D3D14"/>
                </a:solidFill>
                <a:latin typeface="Tahoma"/>
              </a:rPr>
              <a:t>รวม Claude / เดือน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733288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~8,500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77840" y="5733288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17,000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5733288"/>
            <a:ext cx="2194560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5323"/>
                </a:solidFill>
                <a:latin typeface="Tahoma"/>
              </a:rPr>
              <a:t>+8,500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เงินที่เพิ่มได้อะไรกลับมา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และต้นทุนต่อโรงงานลดลงเมื่อใช้ร่วมกันหลายโรงงาน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508760"/>
            <a:ext cx="576072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09728" cy="120700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530352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ไม่โดนล็อกเพราะเกินโควตา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303520" cy="6858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11 ก.ย. ระบบเคยถูกล็อกทั้งโรงงาน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เพราะแพ็กเกจคลาวด์มีเพดาน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80360"/>
            <a:ext cx="576072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880360"/>
            <a:ext cx="109728" cy="120700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971800"/>
            <a:ext cx="530352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เครื่องแรงพอรองรับการขยาย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383280"/>
            <a:ext cx="5303520" cy="6858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8 vCPU · 32 GB · ดิสก์ 500 GB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รองรับหลายโรงงาน + SCADA ในอนาคต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60"/>
            <a:ext cx="5760720" cy="12070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51960"/>
            <a:ext cx="109728" cy="1207008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30352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0D3D14"/>
                </a:solidFill>
                <a:latin typeface="Tahoma"/>
              </a:rPr>
              <a:t>ข้อมูลอยู่ในไทย ไอทีคุมเอง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54880"/>
            <a:ext cx="5303520" cy="68580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data center INET ในประเทศ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55555"/>
                </a:solidFill>
                <a:latin typeface="Tahoma"/>
              </a:rPr>
              <a:t>มี firewall + รายชื่อ IP ที่อนุญาต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463040"/>
            <a:ext cx="512064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ค่า INET ต่อโรงงาน (ถ้าเครื่องเดียวรองรับพอ)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011680"/>
            <a:ext cx="12801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1 โรงงาน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2121408"/>
            <a:ext cx="2743200" cy="420624"/>
          </a:xfrm>
          <a:prstGeom prst="rect">
            <a:avLst/>
          </a:prstGeom>
          <a:solidFill>
            <a:srgbClr val="D95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0" y="2011680"/>
            <a:ext cx="17373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120,000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 /ปี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880360"/>
            <a:ext cx="12801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2 โรงงาน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2990088"/>
            <a:ext cx="1371600" cy="420624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0" y="2880360"/>
            <a:ext cx="17373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60,000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 /ปี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12801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3 โรงงาน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863840" y="3858768"/>
            <a:ext cx="914400" cy="420624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0" y="3749039"/>
            <a:ext cx="17373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40,000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 /ปี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617720"/>
            <a:ext cx="12801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0D3D14"/>
                </a:solidFill>
                <a:latin typeface="Tahoma"/>
              </a:rPr>
              <a:t>5 โรงงาน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0" y="4727448"/>
            <a:ext cx="548640" cy="420624"/>
          </a:xfrm>
          <a:prstGeom prst="rect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19" y="4617720"/>
            <a:ext cx="1737360" cy="64008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0D3D14"/>
                </a:solidFill>
                <a:latin typeface="Tahoma"/>
              </a:rPr>
              <a:t>24,000</a:t>
            </a:r>
            <a:r>
              <a:rPr sz="1100" b="0" i="0">
                <a:solidFill>
                  <a:srgbClr val="555555"/>
                </a:solidFill>
                <a:latin typeface="Tahoma"/>
              </a:rPr>
              <a:t> /ปี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532120"/>
            <a:ext cx="512064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95323"/>
                </a:solidFill>
                <a:latin typeface="Tahoma"/>
              </a:rPr>
              <a:t>ถ้าต้องขยายเป็น 3 เครื่อง (ล่ม 1 ยังวิ่ง) ราคาจะเปลี่ยน — รอใบเสนอราคา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6032" y="256032"/>
            <a:ext cx="11430000" cy="6492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600" b="1" i="0">
                <a:solidFill>
                  <a:srgbClr val="068734"/>
                </a:solidFill>
                <a:latin typeface="Tahoma"/>
              </a:rPr>
              <a:t>ต้องยืนยันก่อนตัดสินใจ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960120"/>
            <a:ext cx="11247120" cy="4023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ราคา 120,000 บาท/ปี รวมอะไรบ้าง · และสมมติฐานของตัวเลขในเด็คนี้</a:t>
            </a:r>
          </a:p>
        </p:txBody>
      </p:sp>
      <p:pic>
        <p:nvPicPr>
          <p:cNvPr id="4" name="Picture 3" descr="logo_r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" y="6448348"/>
            <a:ext cx="237744" cy="237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6353251"/>
            <a:ext cx="3246120" cy="400507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068734"/>
                </a:solidFill>
                <a:latin typeface="Tahoma"/>
              </a:rPr>
              <a:t>THAI SUMMIT GROUP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00032" y="6510528"/>
            <a:ext cx="2514600" cy="29260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068734"/>
                </a:solidFill>
                <a:latin typeface="Tahoma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6583680" cy="45262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  <a:effectLst>
            <a:outerShdw blurRad="50000" dist="20000" dir="5400000" rotWithShape="0">
              <a:srgbClr val="8A99AD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6217920" cy="4114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0D3D14"/>
                </a:solidFill>
                <a:latin typeface="Tahoma"/>
              </a:rPr>
              <a:t>ถามไอที / INET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121408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057400"/>
            <a:ext cx="5669280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รวม VAT แล้วหรือยัง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761488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76148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5669280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backup / snapshot รายวัน รวมในราคาไหม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401568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0156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37560"/>
            <a:ext cx="5669280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Firewall · IP สาธารณะ · bandwidth รวมไหม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041648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04164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977639"/>
            <a:ext cx="5669280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ใครดูแล Kubernetes/Rancher — INET หรือไอทีเรา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681728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68172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617720"/>
            <a:ext cx="5669280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SLA: ระบบเปิดกี่ % · ล่มแล้วกู้ภายในกี่ชั่วโมง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5321808"/>
            <a:ext cx="384048" cy="384048"/>
          </a:xfrm>
          <a:prstGeom prst="ellipse">
            <a:avLst/>
          </a:prstGeom>
          <a:solidFill>
            <a:srgbClr val="0687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21808"/>
            <a:ext cx="384048" cy="38404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Tahom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5257800"/>
            <a:ext cx="5669280" cy="51206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0D3D14"/>
                </a:solidFill>
                <a:latin typeface="Tahoma"/>
              </a:rPr>
              <a:t>ราคาแบบ 3 เครื่อง · สัญญากี่ปี ย้ายออกได้ไหม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9480" y="1463040"/>
            <a:ext cx="4480560" cy="452628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79" y="1554480"/>
            <a:ext cx="4069080" cy="43891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D95323"/>
                </a:solidFill>
                <a:latin typeface="Tahoma"/>
              </a:rPr>
              <a:t>สมมติฐานของตัวเลข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ไม่รวมค่าแรงของทีม และเวลาคนหน้างานที่ช่วยทดสอบ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เรท 35 บาท/USD (ตั้งสูงไว้เผื่อ)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Supabase รอบ ก.ย. เป็นค่าประมาณ · รอบ ต.ค. ใบแจ้งหนี้จริง 36.70 USD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ราคา INET ตามที่ไอทีแจ้ง 20 ต.ค. ยังไม่เห็นใบเสนอราคา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0D3D14"/>
                </a:solidFill>
                <a:latin typeface="Tahoma"/>
              </a:rPr>
              <a:t>•  หลังย้าย ค่า Supabase + Render หายไปทั้งหมด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