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2514600"/>
            <a:ext cx="10332720" cy="10058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068734"/>
                </a:solidFill>
                <a:latin typeface="Tahoma"/>
              </a:rPr>
              <a:t>การประสานงาน ผลิต ↔ สโตร์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95323"/>
                </a:solidFill>
                <a:latin typeface="Tahoma"/>
              </a:rPr>
              <a:t>ลูปเรียกงานจากสโตร์ — สถานะจริงและการมอบหมายงาน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ประชุมมอบหมายงาน · 25 กันยายน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55555"/>
                </a:solidFill>
                <a:latin typeface="Tahoma"/>
              </a:rPr>
              <a:t>Thai Summit Autoparts Industry — ระบบ ESM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1">
                <a:solidFill>
                  <a:srgbClr val="D95323"/>
                </a:solidFill>
                <a:latin typeface="Tahoma"/>
              </a:rPr>
              <a:t>ตัวเลขทุกตัวในเอกสารนี้ อ่านจากฐานข้อมูลจริง ณ 24/09/2026</a:t>
            </a:r>
          </a:p>
        </p:txBody>
      </p:sp>
      <p:pic>
        <p:nvPicPr>
          <p:cNvPr id="9" name="Picture 8" descr="logo_r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ลูปที่ออกแบบไว้ — ปิดใบผลิต 1 ครั้ง ระบบทำงาน 4 อย่าง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ทุกอย่างเริ่มจาก PD กดปิดใบผลิต แล้วระบบเรียกงานต่อเอง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488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8" y="1956816"/>
            <a:ext cx="384048" cy="384048"/>
          </a:xfrm>
          <a:prstGeom prst="ellipse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56816"/>
            <a:ext cx="14630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ปิดใบผลิต FG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487168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PD สแกนปิดใบ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ที่ Daily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395728"/>
            <a:ext cx="3657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828800"/>
            <a:ext cx="21488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52928" y="1956816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2928" y="19385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56816"/>
            <a:ext cx="14630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ของเข้าคลัง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487168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ยอดผลิตเข้า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FG WAREHOUSE /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2395728"/>
            <a:ext cx="3657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828800"/>
            <a:ext cx="21488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1956816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19385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1956816"/>
            <a:ext cx="14630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ระเบิด BOM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487168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รู้ว่าต้องใช้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พาร์ทลูกเท่าไหร่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3" y="2395728"/>
            <a:ext cx="3657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828800"/>
            <a:ext cx="21488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24927" y="1956816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19385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1956816"/>
            <a:ext cx="14630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หักของที่ไลน์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2487168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หักมินิสโตร์ของไลน์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ที่ผลิต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2395728"/>
            <a:ext cx="3657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1828800"/>
            <a:ext cx="2148840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10928" y="1956816"/>
            <a:ext cx="384048" cy="384048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19385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1956816"/>
            <a:ext cx="14630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ส่วนที่ขาด → ออกใบ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2487168"/>
            <a:ext cx="1920240" cy="9144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ใบเรียกผลิต / เบิกวัตถุดิบ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555555"/>
                </a:solidFill>
                <a:latin typeface="Tahoma"/>
              </a:rPr>
              <a:t>/ ขอซื้อ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112928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913632"/>
            <a:ext cx="11292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ระบบออกใบเรียกงานให้เองครบทุกขั้นแล้ว — สิ่งที่ยังไม่ครบคือ “คนรับใบไปปิด”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72000"/>
            <a:ext cx="11292840" cy="1463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ปิดใบผลิตไปแล้ว </a:t>
            </a:r>
            <a:r>
              <a:rPr sz="1500" b="1" i="0">
                <a:solidFill>
                  <a:srgbClr val="068734"/>
                </a:solidFill>
                <a:latin typeface="Tahoma"/>
              </a:rPr>
              <a:t>15,094 ใบ</a:t>
            </a:r>
            <a:r>
              <a:rPr sz="1500" b="0" i="0">
                <a:solidFill>
                  <a:srgbClr val="068734"/>
                </a:solidFill>
                <a:latin typeface="Tahoma"/>
              </a:rPr>
              <a:t>   ·   ระเบิด BOM สำเร็จ </a:t>
            </a:r>
            <a:r>
              <a:rPr sz="1500" b="1" i="0">
                <a:solidFill>
                  <a:srgbClr val="068734"/>
                </a:solidFill>
                <a:latin typeface="Tahoma"/>
              </a:rPr>
              <a:t>15,185 ครั้ง</a:t>
            </a:r>
            <a:r>
              <a:rPr sz="1500" b="0" i="0">
                <a:solidFill>
                  <a:srgbClr val="068734"/>
                </a:solidFill>
                <a:latin typeface="Tahoma"/>
              </a:rPr>
              <a:t>   ·   ออกใบเรียกงานรวม </a:t>
            </a:r>
            <a:r>
              <a:rPr sz="1500" b="1" i="0">
                <a:solidFill>
                  <a:srgbClr val="D95323"/>
                </a:solidFill>
                <a:latin typeface="Tahoma"/>
              </a:rPr>
              <a:t>6,500+ ใบ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ขาที่ระบบทำเองได้ ทำงานครบ 100% — ปัญหาทั้งหมดอยู่ที่ขาที่ต้องมีคนกด</a:t>
            </a:r>
          </a:p>
        </p:txBody>
      </p:sp>
      <p:pic>
        <p:nvPicPr>
          <p:cNvPr id="39" name="Picture 38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สถานะจริงของใบเรียกงาน — ออกใบได้ ไม่มีใครปิด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ข้อมูล ณ 24/09/2026 · ทุกตัวเลขนับจากฐานข้อมูลตรงๆ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9284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91640"/>
            <a:ext cx="32004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ประเภทใบ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1691640"/>
            <a:ext cx="17373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ค้างอยู่ (ใบ)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68112" y="1691640"/>
            <a:ext cx="17373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ปิดจบแล้ว (ใบ)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1691640"/>
            <a:ext cx="18288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ใบเก่าสุดค้างมา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691640"/>
            <a:ext cx="278892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ใครต้องปิด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75688"/>
            <a:ext cx="1129284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075688"/>
            <a:ext cx="3200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8734"/>
                </a:solidFill>
                <a:latin typeface="Tahoma"/>
              </a:rPr>
              <a:t>ใบเรียกผลิตพาร์ทลูก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075688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95323"/>
                </a:solidFill>
                <a:latin typeface="Tahoma"/>
              </a:rPr>
              <a:t>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075688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2075688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76 วัน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2075688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สโตร์ + ผลิต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42616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642616"/>
            <a:ext cx="3200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8734"/>
                </a:solidFill>
                <a:latin typeface="Tahoma"/>
              </a:rPr>
              <a:t>ใบเบิกวัตถุดิบ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64261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95323"/>
                </a:solidFill>
                <a:latin typeface="Tahoma"/>
              </a:rPr>
              <a:t>748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2642616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642616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34 วัน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642616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สโตร์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09544"/>
            <a:ext cx="11292840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209544"/>
            <a:ext cx="3200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8734"/>
                </a:solidFill>
                <a:latin typeface="Tahoma"/>
              </a:rPr>
              <a:t>ใบขอซื้อ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3209544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D95323"/>
                </a:solidFill>
                <a:latin typeface="Tahoma"/>
              </a:rPr>
              <a:t>5,626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3209544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213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3209544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75 วัน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209544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Planning / จัดซื้อ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7647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776472"/>
            <a:ext cx="32004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8734"/>
                </a:solidFill>
                <a:latin typeface="Tahoma"/>
              </a:rPr>
              <a:t>ใบเบิกบรรจุภัณฑ์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377647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C88A00"/>
                </a:solidFill>
                <a:latin typeface="Tahoma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3776472"/>
            <a:ext cx="173736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68734"/>
                </a:solidFill>
                <a:latin typeface="Tahoma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776472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88A00"/>
                </a:solidFill>
                <a:latin typeface="Tahoma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776472"/>
            <a:ext cx="2788920" cy="5669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PE / 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51960"/>
            <a:ext cx="112928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33672"/>
            <a:ext cx="11292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ใบเบิกวัตถุดิบ 748 ใบ — จ่ายจริงไปแค่ 16 ใบ  (2%)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11292840" cy="12801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ใบไม่ได้หายไปไหน ระบบออกให้ถูกต้องทุกใบ แต่ไม่มีใครเปิดหน้าไปกดรับ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ผลที่ตามมา: ผลิตไม่รู้ว่าของจะมาเมื่อไหร่ · สโตร์ไม่รู้ว่าต้องเตรียมอะไร · ทั้งสองฝ่ายจึงกลับไปโทร/เดินคุยเหมือนเดิม</a:t>
            </a:r>
          </a:p>
        </p:txBody>
      </p:sp>
      <p:pic>
        <p:nvPicPr>
          <p:cNvPr id="40" name="Picture 39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ไล่ทีละขา — ขาไหนครบ ขาไหนขาด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สีเขียว = ระบบทำเองได้แล้ว · สีส้ม = ต้องมีคนทำ แต่ยังไม่มีใครทำ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112928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91440" cy="54864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PD ปิดใบผลิต → ของเข้าคลัง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64208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ครบ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64208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อัตโนมัติ 12,038 ครั้ง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53996"/>
            <a:ext cx="112928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53996"/>
            <a:ext cx="91440" cy="54864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53996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ระบบระเบิด BOM → รู้ความต้องการพาร์ทลูก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253996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ครบ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53996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15,185 ครั้ง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43784"/>
            <a:ext cx="1129284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43784"/>
            <a:ext cx="91440" cy="54864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843784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ระบบออกใบเรียกงานให้สโตร์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843784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ครบ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843784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6,500+ ใบ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3572"/>
            <a:ext cx="11292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33572"/>
            <a:ext cx="91440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433572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สโตร์กดรับใบ → จ่ายของ / เปิดผลิต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433572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ขาด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33572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ปิดจบ 2% ของใบที่ออก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11292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91440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23360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จ่ายของแล้ว → ตัดสต็อกสโตร์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023360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ขาด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023360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พาร์ทลูก 145 จาก 155 ตัว ไม่มีแถวสต็อกที่ STORE เลย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13148"/>
            <a:ext cx="11292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613148"/>
            <a:ext cx="91440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613148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ผลิตใช้ของ → หักมินิสโตร์ของไลน์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613148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ขาดครึ่ง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613148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หักได้ 2,247 จากที่รับเข้า 12,038 = 19%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02936"/>
            <a:ext cx="11292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202936"/>
            <a:ext cx="91440" cy="54864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202936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ใบขอซื้อ → จัดซื้อสั่งของ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5202936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ขาด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02936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5,626 ใบค้าง สั่งจริง 213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92723"/>
            <a:ext cx="11292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792723"/>
            <a:ext cx="91440" cy="54864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" y="5792723"/>
            <a:ext cx="51206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บรรจุภัณฑ์ → ใบเบิก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792723"/>
            <a:ext cx="137160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88A00"/>
                </a:solidFill>
                <a:latin typeface="Tahoma"/>
              </a:rPr>
              <a:t>ไม่เคยเริ่ม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5792723"/>
            <a:ext cx="4434840" cy="54864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55555"/>
                </a:solidFill>
                <a:latin typeface="Tahoma"/>
              </a:rPr>
              <a:t>ทะเบียนตั้งไว้ 2 แถว ⇒ ไม่เคยออกใบเลย</a:t>
            </a:r>
          </a:p>
        </p:txBody>
      </p:sp>
      <p:pic>
        <p:nvPicPr>
          <p:cNvPr id="47" name="Picture 46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จุดที่ทำให้ยอดคงเหลือเชื่อไม่ได้ทั้งระบบ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backflush — ของเข้าไลน์ถูกบันทึก แต่ตอนใช้ผลิตไม่ถูกหักออก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12,038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246888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ครั้งที่ของถูกบันทึกเข้าไลน์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432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2,247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6888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ครั้งที่ถูกหักออกตอนใช้ผลิต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7432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46888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อัตราการหักคืน (backflush)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828800"/>
            <a:ext cx="27432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965960"/>
            <a:ext cx="274320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145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606040"/>
            <a:ext cx="2468880" cy="5486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พาร์ทลูกที่ไม่มีแถวสต็อกที่ STORE เลย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112928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02152"/>
            <a:ext cx="11292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ยอดคงเหลือ “ที่ไลน์” สูงกว่าความจริงเสมอ — เอาไปวางแผนไม่ได้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11292840" cy="1920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ทำไมถึงหักไม่ได้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ระบบหักของจาก “มินิสโตร์ของไลน์” ตอนปิดใบผลิต — แต่จะหักได้ก็ต่อเมื่อมีการบันทึก “จ่ายพาร์ทเข้าไลน์” ไว้ก่อน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068734"/>
                </a:solidFill>
                <a:latin typeface="Tahoma"/>
              </a:rPr>
              <a:t>ของจริงถูกยกไปที่ไลน์โดยไม่ผ่านระบบ ⇒ ระบบไม่รู้ว่ามีของอยู่ ⇒ หักไม่ได้ ⇒ ยอดค้างสูงลอยอยู่ตลอด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D95323"/>
                </a:solidFill>
                <a:latin typeface="Tahoma"/>
              </a:rPr>
              <a:t>⇒ สิ่งที่ต้องตกลงกันวันนี้: การยกของจากสโตร์ไปไลน์ ต้องมีการกดในระบบทุกครั้ง ไม่มีข้อยกเว้น</a:t>
            </a:r>
          </a:p>
        </p:txBody>
      </p:sp>
      <p:pic>
        <p:nvPicPr>
          <p:cNvPr id="22" name="Picture 2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มอบหมายงาน — ใครทำอะไร ภายในเมื่อไหร่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เรียงตามลำดับที่ต้องทำ · ข้อ 1-2 ทำได้ทันทีไม่ต้องรอระบบ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92840" cy="347472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45920"/>
            <a:ext cx="50292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645920"/>
            <a:ext cx="182880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ใคร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645920"/>
            <a:ext cx="466344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ทำอะไร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1645920"/>
            <a:ext cx="274320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ได้อะไร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1645920"/>
            <a:ext cx="1554480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เมื่อไหร่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1129284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2093976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075688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1993392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สโตร์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1993392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เปิดหน้าคิวใบเรียกงานทุกเช้า แล้วกดรับ/ปิดใบ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993392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ล้างใบค้าง 108 + 748 ใบ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68712" y="1993392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ทันที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23744"/>
            <a:ext cx="11292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6928" y="2624328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606040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2523744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สโตร์ + ผลิต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2072" y="2523744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จ่ายพาร์ทจากสโตร์ไปไลน์ ต้องกดในระบบทุกครั้ง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2523744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ทำให้ backflush หักได้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2523744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ทันที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54096"/>
            <a:ext cx="1129284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3154680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136392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" y="3054096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สโตร์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2072" y="3054096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ตั้งยอดตั้งต้นพาร์ทลูก 145 ตัวที่ STORE (ตรวจนับ)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5512" y="3054096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ยอดคงเหลือเริ่มเชื่อได้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3054096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ภายใน 1 สัปดาห์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584448"/>
            <a:ext cx="11292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8" y="3685032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666744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" y="3584448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Planning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3584448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ทบทวนใบขอซื้อค้าง 5,626 ใบ — รวมยอดรายพาร์ทก่อนสั่ง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5512" y="3584448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คิวจริงโผล่ออกมา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3584448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ภายใน 1 สัปดาห์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14800"/>
            <a:ext cx="1129284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6928" y="4215384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197096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" y="4114800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Planning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62072" y="4114800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ตั้ง lot size ให้พาร์ทที่ยังว่าง 193 รายการ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25512" y="4114800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ใบที่ค้างในถังจะไหลออก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68712" y="4114800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ภายใน 2 สัปดาห์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645152"/>
            <a:ext cx="1129284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6928" y="4745736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4727448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" y="4645152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PE + Planning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62072" y="4645152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ตั้งทะเบียนบรรจุภัณฑ์ต่อสินค้า (ตอนนี้มี 2 แถว)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25512" y="4645152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ขาบรรจุภัณฑ์เริ่มทำงาน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68712" y="4645152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ภายใน 2 สัปดาห์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175504"/>
            <a:ext cx="11292840" cy="5303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6928" y="5276088"/>
            <a:ext cx="329184" cy="329184"/>
          </a:xfrm>
          <a:prstGeom prst="ellipse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928" y="5257800"/>
            <a:ext cx="32918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Tahoma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" y="5175504"/>
            <a:ext cx="18288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ผลิต (PD)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2072" y="5175504"/>
            <a:ext cx="466344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ปิดใบผลิตให้ครบทุกใบทุกกะ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5512" y="5175504"/>
            <a:ext cx="274320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Tahoma"/>
              </a:rPr>
              <a:t>ต้นทางของทั้งลูป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68712" y="5175504"/>
            <a:ext cx="155448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5323"/>
                </a:solidFill>
                <a:latin typeface="Tahoma"/>
              </a:rPr>
              <a:t>ทำอยู่แล้ว — คงไว้</a:t>
            </a:r>
          </a:p>
        </p:txBody>
      </p:sp>
      <p:pic>
        <p:nvPicPr>
          <p:cNvPr id="62" name="Picture 61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881360" cy="8686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วัดผลอาทิตย์หน้าด้วยตัวเลข 4 ตัวนี้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8813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068734"/>
                </a:solidFill>
                <a:latin typeface="Tahoma"/>
              </a:rPr>
              <a:t>ทุกตัวอ่านจากระบบได้เอง ไม่ต้องทำรายงานเพิ่ม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92840" cy="384048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ตัววัด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37360"/>
            <a:ext cx="27432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วันนี้ 24/09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37360"/>
            <a:ext cx="3063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Tahoma"/>
              </a:rPr>
              <a:t>เป้าอาทิตย์หน้า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1129284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54864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ใบเรียกงานค้าง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21408"/>
            <a:ext cx="27432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856 ใบ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21408"/>
            <a:ext cx="306324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&lt; 100 ใบ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24912"/>
            <a:ext cx="54864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อัตรา backflush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724912"/>
            <a:ext cx="27432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724912"/>
            <a:ext cx="306324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&gt; 70%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8416"/>
            <a:ext cx="11292840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28416"/>
            <a:ext cx="54864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พาร์ทลูกที่มียอดสต็อก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328416"/>
            <a:ext cx="27432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10 / 155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28416"/>
            <a:ext cx="306324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&gt; 120 / 155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1129284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54864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8734"/>
                </a:solidFill>
                <a:latin typeface="Tahoma"/>
              </a:rPr>
              <a:t>ใบขอซื้อค้างเกิน 30 วัน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31920"/>
            <a:ext cx="274320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5,626 ใบ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931920"/>
            <a:ext cx="3063240" cy="6035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68734"/>
                </a:solidFill>
                <a:latin typeface="Tahoma"/>
              </a:rPr>
              <a:t>0 ใบ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92840" cy="402336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90872"/>
            <a:ext cx="11292840" cy="4023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ahoma"/>
              </a:rPr>
              <a:t>ทบทวน 4 ตัวนี้ในประชุมเช้าทุกวันศุกร์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349240"/>
            <a:ext cx="1129284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68734"/>
                </a:solidFill>
                <a:latin typeface="Tahoma"/>
              </a:rPr>
              <a:t>ระบบไม่ได้พัง และไม่ต้องรอฟีเจอร์ใหม่ — ข้อ 1 กับ 2 เริ่มได้พรุ่งนี้เช้า</a:t>
            </a:r>
          </a:p>
        </p:txBody>
      </p:sp>
      <p:pic>
        <p:nvPicPr>
          <p:cNvPr id="30" name="Picture 29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068734"/>
                </a:solidFill>
                <a:latin typeface="Tahoma"/>
              </a:rPr>
              <a:t>ระบบเรียกงานให้แล้ว — เหลือแค่เรากดรับ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1">
                <a:solidFill>
                  <a:srgbClr val="D95323"/>
                </a:solidFill>
                <a:latin typeface="Tahoma"/>
              </a:rPr>
              <a:t>Before We Build Parts, We Build People</a:t>
            </a:r>
          </a:p>
        </p:txBody>
      </p:sp>
      <p:pic>
        <p:nvPicPr>
          <p:cNvPr id="5" name="Picture 4" descr="logo_r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