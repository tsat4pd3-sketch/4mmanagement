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เปิด: ESM คือระบบเดียวที่ทุกแผนกในโรงงานใช้ร่วมกัน — บันทึกครั้งเดียวที่หน้างาน แล้วทุกคนเห็นข้อมูลชุดเดียวกันทันที</a:t>
            </a:r>
          </a:p>
          <a:p>
            <a:r>
              <a:t>วันนี้จะเล่า 3 เรื่อง: แต่ละแผนกใช้อะไรได้บ้าง · งานของแต่ละแผนกเชื่อมกันยังไง · และได้อะไร 4 ข้อ: เห็นสด ลดงาน ใช้ง่าย ลดต้นทุน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ช่วง ใช้เวลารวม ~15 นาที: ภาพรวม → แผนกไหนใช้อะไร → งานเชื่อมกันยังไง → ลงรายละเอียดทีละแผนก → สรุปประโยชน์ 4 ข้อ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เสาหลักของ ESM — สีเดียวกันนี้จะโผล่ท้ายสไลด์ทุกแผนก (ส้ม=เห็นสด · เขียว=ลดงาน · เขียวเข้ม=ใช้ง่าย · เหลืองอำพัน=ลดต้นทุน)</a:t>
            </a:r>
          </a:p>
          <a:p>
            <a:r>
              <a:t>ตัวเลขผู้ใช้: บัญชี 100 · ใช้จริงใน 30 วัน 71 คน · ใน 7 วัน 47 คน (วัด 06/10)</a:t>
            </a:r>
          </a:p>
          <a:p>
            <a:r>
              <a:t>~1,300 ใบ/เดือน = ใบซ่อม MO 496 + ใบตรวจ PM 88 + รายงานกะ 505 + LPA 222 (ก.ย.)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ภาพเดียวตอบคำถาม "แผนกไหนใช้อะไร" — ทุกแผนกเข้าระบบเดียวกัน ด้วยบัญชีเดียว เมนูที่เห็นขึ้นกับสิทธิ์ของแต่ละคน</a:t>
            </a:r>
          </a:p>
          <a:p>
            <a:r>
              <a:t>ถ้าผู้บริหารถามว่าใช้จริงแค่ไหน: MTN/PD3/PD4 ใช้ทุกวัน · PD1/PD2/Store/Logistic/Planning กำลังขยาย · QA/JIG/DIE/PE ระบบพร้อม แต่ยังลงข้อมูลน้อย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สายงานที่เห็นภาพชัดที่สุดว่าทุกแผนกต่อกันในระบบเดียว</a:t>
            </a:r>
          </a:p>
          <a:p>
            <a:r>
              <a:t>① เครื่องหยุด: ผลิตลง downtime → กดเรียกช่าง เลือกทีม (เด้งเฉพาะทีมนั้น · ไม่รับใน 15 นาทีเตือนเอง) → เปิดใบ MO ต่อจาก downtime → ซ่อม → QA ตรวจ → OEE กะนั้นอัปเดต → ขึ้น KPI บน OBEYA</a:t>
            </a:r>
          </a:p>
          <a:p>
            <a:r>
              <a:t>② ลูกค้าสั่งของ: เมล EDI เข้าคิวเอง → วางแผน/Monitoring → ไลน์สแกนคัมบังผลิต → ปิดใบแล้วระบบระเบิด BOM ขอพาร์ทลูกเอง → คลังนับแล้วรับ → ส่งของตัดสต็อกทันที</a:t>
            </a:r>
          </a:p>
          <a:p>
            <a:r>
              <a:t>ปิดด้วย /order-trace: เลขใบเดียวกางได้ทั้งเส้น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ต่อไปลงรายละเอียดทีละแผนก — ทุกสไลด์มี 3 ช่องเหมือนกัน: ทำอะไรได้ · จอหลัก · เชื่อมกับใคร และแถบ 4 สีด้านล่าง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ผลิตคือต้นทาง: บันทึกครั้งเดียวที่หน้างาน แล้วข้อมูลวิ่งไปทุกแผนก</a:t>
            </a:r>
          </a:p>
          <a:p>
            <a:r>
              <a:t>ตัวเลข ก.ย.: รายงานกะในระบบ 505 ใบ · downtime 3,792 รายการ · เช็คชื่อ 3,489 ครั้ง · กะที่ OEE พร้อมตอนปิดกะ 70% → 96% (ก.ค. → ก.ย.)</a:t>
            </a:r>
          </a:p>
          <a:p>
            <a:r>
              <a:t>เดโม: /daily-report เปิดกะ → ลง downtime → กดเรียกช่าง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MTN คือแผนกที่เห็นผลชัดที่สุด</a:t>
            </a:r>
          </a:p>
          <a:p>
            <a:r>
              <a:t>วัดจริง ส.ค. → ก.ย.: เรียกช่างถึงรับเรื่อง (P80) 529 → 30 นาที · เครื่องหยุดถึงเปิด MO (ค่ากลาง) 7.7 → 3.2 นาที · เปิด MO ถึงซ่อมเสร็จ (P80) 7.9 → 0.9 ชม.</a:t>
            </a:r>
          </a:p>
          <a:p>
            <a:r>
              <a:t>ใบ MO ในระบบ ส.ค. 76 → ก.ย. 496 ใบ · ใบตรวจ PM 6 → 88 · แผน PM 147 แผน เลยกำหนดวันนี้ 1</a:t>
            </a:r>
          </a:p>
          <a:p>
            <a:r>
              <a:t>ข้อควรระวัง: ใบค้างรอ QA ยังเยอะ (205 ใบ) — ถ้าถูกถามให้ตอบตรงๆ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JIG/DIE ใช้ระบบเดียวกับ MTN แต่แยกทีม — ปุ่มเรียกช่างต้องเลือกทีม เด้งเฉพาะทีมนั้น (เดิมเรียกทั้ง 13 คนทุกทีม)</a:t>
            </a:r>
          </a:p>
          <a:p>
            <a:r>
              <a:t>สถานะจริง: ทะเบียนพร้อม · ใบตรวจจิ๊กและบันทึกชิมยังลงน้อย — พูดเป็น 'ระบบพร้อมใช้' ไม่ใช่ 'ใช้เต็มแล้ว'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QA: ระบบพร้อมครบ แต่การใช้งานยังน้อย (ผลตัดสินถัง = 0 · ใบตรวจล่าสุด ส.ค.)</a:t>
            </a:r>
          </a:p>
          <a:p>
            <a:r>
              <a:t>ตอนนำเสนอให้เน้นว่า 'ระบบรองรับอะไร' และยกเป็นเป้าเดือนหน้า — อย่าพูดว่าใช้เต็มแล้ว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สโตร์: เดิมรับคำขอผ่าน LINE กลุ่ม (ทีมสโตร์เล่าเองว่า 'มั่วมาก')</a:t>
            </a:r>
          </a:p>
          <a:p>
            <a:r>
              <a:t>ตอนนี้ขาที่ระบบทำเองครบ (ระเบิด BOM ออกใบเอง) · ขาที่ต้องมีคนกด (รับใบ/บันทึกจ่าย) ยังต้องฝึกเพิ่ม</a:t>
            </a:r>
          </a:p>
          <a:p>
            <a:r>
              <a:t>รับเข้าคลังหลังปิดใบผลิต ค่ากลางยัง ~73 ชม. — ถ้าถูกถาม ตอบว่าโหมดนับก่อนรับเพิ่งเริ่ม 02/10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Logistic: เมล EDI เข้าคิวเองทุก 15 นาที (เดิมต้องเซฟไฟล์แนบแล้วลากเข้าเอง)</a:t>
            </a:r>
          </a:p>
          <a:p>
            <a:r>
              <a:t>ตัวเลขส่งตรงเวลา: ส.ค. 91% · ก.ย. 72% · ต.ค. 87% (6 วันแรก) — ผู้นำเสนอต้องเตรียมเหตุผลที่ ก.ย. ตก</a:t>
            </a:r>
          </a:p>
          <a:p>
            <a:r>
              <a:t>จุดที่ต้องปิด: ยังใช้บัญชีร่วม — ควรให้แต่ละคนมีบัญชีของตัวเอง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Planning: เป้าคือเลิกทำ Excel Monitoring 13 ชีททุกวัน — จอ /monitoring หน้าตาเดียวกับ Excel ที่ทีมใช้</a:t>
            </a:r>
          </a:p>
          <a:p>
            <a:r>
              <a:t>สถานะจริง: ระบบพร้อม · การใช้แผนผลิต/คำนวณคัมบังยังน้อย — ยกเป็นเป้าเดือนหน้า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PE: 3 ไฟล์ Excel (PFC/PFMEA/CP) กลายเป็นข้อมูลชุดเดียว มองได้ 3 มุม</a:t>
            </a:r>
          </a:p>
          <a:p>
            <a:r>
              <a:t>พาร์ทต้นแบบ P703 (สาย 060/061) ลงข้อมูลเต็มใบแล้ว ใช้เดโมได้</a:t>
            </a:r>
          </a:p>
          <a:p>
            <a:r>
              <a:t>สถานะจริง: เอกสารลงล่าสุด ส.ค. · คลัง PFMEA กลางรอ PE ยืนยัน 43 กระบวนการ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HR/ธุรการ: ปฏิทินบริษัทสำคัญมาก — ปฏิทินผิด = คัมบัง/แผนผลิต/PM/LPA ผิดหมดเงียบๆ (เคยเกิดจริง 28–29 ก.ย.)</a:t>
            </a:r>
          </a:p>
          <a:p>
            <a:r>
              <a:t>ใบ OJT ในระบบ: ส.ค. 12 · ก.ย. 6 ใบ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ผู้บริหาร: บอร์ด OBEYA กระดาษบนผนังย้ายเข้าระบบ — ESM เป็นที่ผลิตตัวเลข Actual ไม่ได้ทำแข่งกับ KPI Online ของกลุ่ม</a:t>
            </a:r>
          </a:p>
          <a:p>
            <a:r>
              <a:t>สถานะจริง: Action board ยัง 0 รายการ — ขอให้ผู้บริหารใช้ตั้ง action จริงอย่างน้อย 5 รายการ</a:t>
            </a:r>
          </a:p>
          <a:p>
            <a:r>
              <a:t>/group-overview เป็นตัวอย่างจอ (mockup) — ต้องบอกทุกครั้ง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สรุปประโยชน์ 4 ข้อ พร้อมตัวเลขที่วัดได้จริง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Realtime: ตัวเลข 4 ตัวบนสุดวัดจากฐานข้อมูลจริง 06/10 (เรียกช่าง 279 ครั้ง · MO 294/456 ใบ · กะ 485 กะ)</a:t>
            </a:r>
          </a:p>
          <a:p>
            <a:r>
              <a:t>หลักคิด: ระบบไม่ได้ยิงแจ้งเตือนทุกคน — เด้งเฉพาะคนที่ต้องทำ ไม่งั้นคนจะเลิกดู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ลดงาน: ตารางคือจำนวนบันทึกต่อเดือนที่เมื่อก่อนเป็นกระดาษ/Excel (วัด 06/10)</a:t>
            </a:r>
          </a:p>
          <a:p>
            <a:r>
              <a:t>MO 76 → 496 และ PM 6 → 88 คือแผนกที่ย้ายจากกระดาษมาเต็มตัวในเดือนเดียว</a:t>
            </a:r>
          </a:p>
          <a:p>
            <a:r>
              <a:t>LPA ก.ย. ลดลง (289 → 222) — ถ้าถูกถาม: เป็นจำนวนการตรวจ ไม่ใช่ปัญหาระบบ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ใช้ง่าย: ออกแบบจาก feedback หน้างาน เช่น สแกน QR แทนเลือกจาก dropdown ยาวๆ ตอนใส่ถุงมือ</a:t>
            </a:r>
          </a:p>
          <a:p>
            <a:r>
              <a:t>จอ TV หน้างานเป็นเบราว์เซอร์รุ่นเก่า (Chromium 94 บน webOS 2023) — ระบบทดสอบให้ผ่านทุกครั้งก่อนขึ้นใช้งาน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ลดต้นทุน — สำคัญ: สไลด์นี้ไม่ใส่ตัวเลขเงินบาท เพราะยังไม่ได้คำนวณร่วมกับฝ่ายบัญชี (ห้ามเดาตัวเลขต่อหน้าผู้บริหาร)</a:t>
            </a:r>
          </a:p>
          <a:p>
            <a:r>
              <a:t>พูดได้: ไม่มีค่าไลเซนส์ (ทำเองในโรงงาน) · ใช้อุปกรณ์เดิม · กระดาษ ~1,300 ใบ/เดือนย้ายเข้าระบบ · เครื่องรอซ่อมสั้นลงชัดเจน</a:t>
            </a:r>
          </a:p>
          <a:p>
            <a:r>
              <a:t>ถ้าถูกถามตัวเลขเงิน: เสนอว่าจะคำนวณร่วมกับบัญชี เช่น ชั่วโมงเครื่องรอซ่อมที่ลดลง × ต้นทุนต่อชั่วโมงของไลน์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ก้าวต่อไป: (1) ทุกแผนกลงข้อมูลทุกวัน (2) ผู้บริหารใช้ตัวเลขตั้ง action จริง (3) แก้จุดส่งต่อที่ยังช้า — MO รอ QA 205 ใบ, รับเข้าคลัง ~73 ชม.</a:t>
            </a:r>
          </a:p>
          <a:p>
            <a:r>
              <a:t>(4) ต่อเครื่องจักร SCADA ภายหลัง — เครื่องบอกข้อเท็จจริง คนบอกเหตุผล (5) ขยายไปโรงงานอื่น เริ่มที่ผลิต + ซ่อมบำรุงก่อน</a:t>
            </a:r>
          </a:p>
          <a:p>
            <a:r>
              <a:t>สิ่งที่ยังไม่ได้ทำ ห้ามพูดว่าเสร็จ: ต่อ SAP/SCADA · ระบบหลายบริษัทจริง (/group-overview เป็นตัวอย่างจอ)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ภาพอนาคต (ยังเป็นแผน ไม่ใช่สิ่งที่ทำเสร็จแล้ว): ESM ที่ TSAT เป็นต้นแบบ โรงงานอื่นในกลุ่มใช้โปรแกรมเดียวกันได้</a:t>
            </a:r>
          </a:p>
          <a:p>
            <a:r>
              <a:t>แต่ละโรงงานมีข้อมูลและผู้ใช้ของตัวเอง ไม่เห็นข้อมูลกัน — ปรับปรุงที่เดียว ได้ทุกโรง</a:t>
            </a:r>
          </a:p>
          <a:p>
            <a:r>
              <a:t>สิ่งที่โรงงานใหม่ต้องเตรียม 3 อย่าง: ที่ตั้งระบบ (IT) · ชื่อ/โลโก้/ฟอร์มของตัวเอง (ทีม ESM) · ข้อมูลโรงงาน (นานที่สุด)</a:t>
            </a:r>
          </a:p>
          <a:p>
            <a:r>
              <a:t>ข้อเสนอเบื้องต้น ~5 สัปดาห์ต่อโรงงาน ขึ้นกับความพร้อมข้อมูล · เช็คลิสต์เต็ม: ESM_New_Factory_Deploy_Checklist_2026-10-28.pptx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ปิด: บันทึกครั้งเดียว ทุกคนเห็น และเห็นทันที — ระบบไม่ได้ทำงานแทนคน แต่ทำให้ทุกแผนกส่งงานต่อกันเร็วขึ้นบนข้อมูลชุดเดียวกัน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56032"/>
            <a:ext cx="1143000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17904"/>
            <a:ext cx="11091672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ภาพรวมโปรแกรม ESM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10916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95323"/>
                </a:solidFill>
                <a:latin typeface="Tahoma"/>
              </a:rPr>
              <a:t>Enterprise Shopfloor Management — ระบบเดียวที่เชื่อมทุกแผนกในโรงงาน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70048"/>
            <a:ext cx="8531352" cy="868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แผนกไหนใช้อะไร · งานเชื่อมกันอย่างไร · ได้ประโยชน์อะไร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TSAT · Thai Summit Group · ตุลาคม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959352"/>
            <a:ext cx="578815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1">
                <a:solidFill>
                  <a:srgbClr val="068734"/>
                </a:solidFill>
                <a:latin typeface="Tahoma"/>
              </a:rPr>
              <a:t>คำประกาศคุณภาพของฉัน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43484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“I will not accept, produce and deliver non-quality work”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84632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“ผมจะไม่รับ, ไม่ทำและไม่ส่งมอบงานที่ไม่มีคุณภาพ”</a:t>
            </a:r>
          </a:p>
        </p:txBody>
      </p:sp>
      <p:pic>
        <p:nvPicPr>
          <p:cNvPr id="9" name="Picture 8" descr="title_a.jpg"/>
          <p:cNvPicPr>
            <a:picLocks noChangeAspect="1"/>
          </p:cNvPicPr>
          <p:nvPr/>
        </p:nvPicPr>
        <p:blipFill>
          <a:blip r:embed="rId3"/>
          <a:srcRect l="118" r="118"/>
          <a:stretch>
            <a:fillRect/>
          </a:stretch>
        </p:blipFill>
        <p:spPr>
          <a:xfrm>
            <a:off x="4434840" y="5577840"/>
            <a:ext cx="1920240" cy="1161288"/>
          </a:xfrm>
          <a:prstGeom prst="rect">
            <a:avLst/>
          </a:prstGeom>
        </p:spPr>
      </p:pic>
      <p:pic>
        <p:nvPicPr>
          <p:cNvPr id="10" name="Picture 9" descr="title_b.jpg"/>
          <p:cNvPicPr>
            <a:picLocks noChangeAspect="1"/>
          </p:cNvPicPr>
          <p:nvPr/>
        </p:nvPicPr>
        <p:blipFill>
          <a:blip r:embed="rId4"/>
          <a:srcRect l="4710" r="4710"/>
          <a:stretch>
            <a:fillRect/>
          </a:stretch>
        </p:blipFill>
        <p:spPr>
          <a:xfrm>
            <a:off x="6473952" y="5577840"/>
            <a:ext cx="1856231" cy="1152144"/>
          </a:xfrm>
          <a:prstGeom prst="rect">
            <a:avLst/>
          </a:prstGeom>
        </p:spPr>
      </p:pic>
      <p:pic>
        <p:nvPicPr>
          <p:cNvPr id="11" name="Picture 10" descr="title_c.jpg"/>
          <p:cNvPicPr>
            <a:picLocks noChangeAspect="1"/>
          </p:cNvPicPr>
          <p:nvPr/>
        </p:nvPicPr>
        <p:blipFill>
          <a:blip r:embed="rId5"/>
          <a:srcRect l="15297" r="15297"/>
          <a:stretch>
            <a:fillRect/>
          </a:stretch>
        </p:blipFill>
        <p:spPr>
          <a:xfrm>
            <a:off x="8439912" y="5550408"/>
            <a:ext cx="1847088" cy="1188720"/>
          </a:xfrm>
          <a:prstGeom prst="rect">
            <a:avLst/>
          </a:prstGeom>
        </p:spPr>
      </p:pic>
      <p:pic>
        <p:nvPicPr>
          <p:cNvPr id="12" name="Picture 11" descr="title_d.jpg"/>
          <p:cNvPicPr>
            <a:picLocks noChangeAspect="1"/>
          </p:cNvPicPr>
          <p:nvPr/>
        </p:nvPicPr>
        <p:blipFill>
          <a:blip r:embed="rId6"/>
          <a:srcRect t="8086" b="8086"/>
          <a:stretch>
            <a:fillRect/>
          </a:stretch>
        </p:blipFill>
        <p:spPr>
          <a:xfrm>
            <a:off x="10405872" y="5577840"/>
            <a:ext cx="1847088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ภาพรวมโปรแกรม ESM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หัวข้อนำเสนอ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6464" y="1764792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1.   ESM ในหน้าเดียว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148840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บัญชีเดียว · ทุกแผนก · ใช้ได้ทั้ง PC มือถือ และจอ TV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6464" y="2606040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2.   แผนกไหนใช้อะไร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990088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ทุกแผนกกับจอที่ใช้ในหน้าเดียว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3447288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3.   งานเชื่อมกันอย่างไร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831336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2 สายงานที่วิ่งข้ามแผนกตั้งแต่ต้นจนจบ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4288536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4.   ลงรายละเอียดทีละแผนก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672584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ฟีเจอร์ · จอหลัก · การส่งต่องาน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129784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5.   ได้ประโยชน์อะไร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5513832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เห็นทันที · ลดภาระงาน · ใช้งานง่าย · ลดต้นทุน</a:t>
            </a:r>
          </a:p>
        </p:txBody>
      </p:sp>
      <p:pic>
        <p:nvPicPr>
          <p:cNvPr id="14" name="Picture 1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ESM ในหน้าเดียว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50" b="1" i="0">
                <a:solidFill>
                  <a:srgbClr val="068734"/>
                </a:solidFill>
                <a:latin typeface="Tahoma"/>
              </a:rPr>
              <a:t>บันทึกครั้งเดียวที่หน้างาน — ทุกแผนกเห็นข้อมูลชุดเดียวกันทันที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2724912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724912" cy="56692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7249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เห็นทันที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286000"/>
            <a:ext cx="2423160" cy="23774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OEE สดระหว่างกะ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สถานะไลน์บนผังโรงงานและจอ TV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เรียกช่างเด้งถึงมือถือทีมที่ถูกต้อง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ไม่มีคนรับ ระบบเตือนต่อเอง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600200"/>
            <a:ext cx="2724912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0984" y="1600200"/>
            <a:ext cx="2724912" cy="56692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0984" y="1600200"/>
            <a:ext cx="27249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ลดภาระงาน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2286000"/>
            <a:ext cx="2423160" cy="23774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ไม่ต้องคีย์กระดาษลง Excel ซ้ำ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พิมพ์ฟอร์ม FM- ทางการจากข้อมูล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คำนวณ OEE วัน PM คัมบังให้เอง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ระบบเปิดใบงานต่อเนื่องให้เอง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600200"/>
            <a:ext cx="2724912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600200"/>
            <a:ext cx="2724912" cy="56692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600200"/>
            <a:ext cx="27249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ใช้งานง่าย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286000"/>
            <a:ext cx="2423160" cy="23774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สแกน QR ที่เครื่อง จิ๊ก ชิ้นงาน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จอภาษาไทย บัญชีเดียวทุกแผนก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ใช้ได้ทั้งมือถือ PC จอ TV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'คิวงานของฉัน' บอกงานที่รอเรา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1600200"/>
            <a:ext cx="2724912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8552" y="1600200"/>
            <a:ext cx="2724912" cy="56692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1600200"/>
            <a:ext cx="27249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ลดต้นทุน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286000"/>
            <a:ext cx="2423160" cy="23774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พัฒนาเอง ไม่มีค่าไลเซนส์รายคน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ใช้ PC มือถือ จอ TV ที่มีอยู่แล้ว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กระดาษ ~1,300 ใบ/เดือน เข้าระบบ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เครื่องรอซ่อมสั้นลง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19472"/>
            <a:ext cx="2724912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19472"/>
            <a:ext cx="86868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5323"/>
                </a:solidFill>
                <a:latin typeface="Tahoma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919472"/>
            <a:ext cx="169164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แผนกในระบบเดียว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00984" y="4919472"/>
            <a:ext cx="2724912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92424" y="4919472"/>
            <a:ext cx="86868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5323"/>
                </a:solidFill>
                <a:latin typeface="Tahoma"/>
              </a:rPr>
              <a:t>80+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1104" y="4919472"/>
            <a:ext cx="169164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จอและฟอร์ม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4919472"/>
            <a:ext cx="2724912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7" y="4919472"/>
            <a:ext cx="86868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5323"/>
                </a:solidFill>
                <a:latin typeface="Tahoma"/>
              </a:rPr>
              <a:t>71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4919472"/>
            <a:ext cx="169164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คนใช้งานจริงใน 30 วัน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8552" y="4919472"/>
            <a:ext cx="2724912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9992" y="4919472"/>
            <a:ext cx="86868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5323"/>
                </a:solidFill>
                <a:latin typeface="Tahoma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4919472"/>
            <a:ext cx="169164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บัญชี · PC · มือถือ · TV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  <a:latin typeface="Tahoma"/>
              </a:rPr>
              <a:t>ผู้ใช้งานจริง: วัดจากฐานข้อมูล ESM · 6 ต.ค. 2569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แผนกไหนใช้อะไร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ทุกแผนกทำงานในระบบเดียวกัน แต่ละคนเห็นเฉพาะจอของตัวเอง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74552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897112"/>
              </a:tblGrid>
              <a:tr h="34747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ahoma"/>
                        </a:rPr>
                        <a:t>แผนก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ahoma"/>
                        </a:rPr>
                        <a:t>จอหลัก / ฟังก์ชัน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ฝ่ายผลิต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รายงานผลิตรายวัน · Downtime/ของเสีย · เช็คชื่อ-PPE · LPA · ใบรายงานของเสีย · ใบรายงานปัญหา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ซ่อมบำรุง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ใบแจ้งซ่อม MO · บอร์ด Andon ช่าง · แผน/ใบตรวจ PM · อะไหล่ · KPI ช่าง และ QC 7 Tools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JIG / DIE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ทะเบียนจิ๊ก/แม่พิมพ์ · บันทึกชิม · สถานะแม่พิมพ์ · ใบตรวจจิ๊ก · กฎเวลาเปลี่ยนรุ่น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ประกันคุณภาพ (QA)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ใบตรวจ · ถังเหลือง/ถังแดง · อนุมัติ 4M · CQI-15 · ใบเบิกชิ้นทดสอบ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สโตร์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บอร์ดสโตร์ (เติม WIP · วัตถุดิบ · จัดซื้อ) · รับเข้าคลัง · เฝ้าระวังสต็อก · ขอพาร์ทลูกอัตโนมัติจาก BOM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Logistic / จัดส่ง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ความต้องการลูกค้าและการส่ง · EDI จากเมล · สต็อก FG · ขนส่งในโรงงาน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วางแผน / ขาย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แผนการผลิต · บอร์ด Monitoring · คำนวณคัมบัง · จับคู่เลขพาร์ทลูกค้า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วิศวกรรม (PE)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Process Flow · PFMEA · Control Plan · NPI / APQP / PPAP · เปลี่ยนแปลง 4M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HR / ธุรการ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อบรม OJT (เซ็นบนจอ) · ตารางทักษะ · กำลังคน · ปฏิทินบริษัท · OT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8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ผู้บริหาร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OBEYA KPI และ SQDCM · ผังโรงงาน · จอ TV · สอบกลับใบผลิต · บอร์ดติดตาม Action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งานเชื่อมกันอย่างไร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เหตุการณ์เดียวที่หน้างาน วิ่งผ่านทุกแผนกเอง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95323"/>
                </a:solidFill>
                <a:latin typeface="Tahoma"/>
              </a:rPr>
              <a:t>①  เครื่องจักรหยุด</a:t>
            </a:r>
          </a:p>
        </p:txBody>
      </p:sp>
      <p:sp>
        <p:nvSpPr>
          <p:cNvPr id="8" name="Pentagon 7"/>
          <p:cNvSpPr/>
          <p:nvPr/>
        </p:nvSpPr>
        <p:spPr>
          <a:xfrm>
            <a:off x="457200" y="1965960"/>
            <a:ext cx="2005584" cy="868680"/>
          </a:xfrm>
          <a:prstGeom prst="homePlat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ไลน์บันทึกเครื่องหยุด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กดครั้งเดียว</a:t>
            </a:r>
          </a:p>
        </p:txBody>
      </p:sp>
      <p:sp>
        <p:nvSpPr>
          <p:cNvPr id="10" name="Chevron 9"/>
          <p:cNvSpPr/>
          <p:nvPr/>
        </p:nvSpPr>
        <p:spPr>
          <a:xfrm>
            <a:off x="2343911" y="1965960"/>
            <a:ext cx="2005584" cy="8686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8231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เรียกทีมช่างที่ถูกต้อง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เด้งมือถือทีม JIG/DIE/MTN</a:t>
            </a:r>
          </a:p>
        </p:txBody>
      </p:sp>
      <p:sp>
        <p:nvSpPr>
          <p:cNvPr id="12" name="Chevron 11"/>
          <p:cNvSpPr/>
          <p:nvPr/>
        </p:nvSpPr>
        <p:spPr>
          <a:xfrm>
            <a:off x="4230623" y="1965960"/>
            <a:ext cx="2005584" cy="868680"/>
          </a:xfrm>
          <a:prstGeom prst="chevron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4943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เปิดใบแจ้งซ่อม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ต่อจาก downtime ทันที</a:t>
            </a:r>
          </a:p>
        </p:txBody>
      </p:sp>
      <p:sp>
        <p:nvSpPr>
          <p:cNvPr id="14" name="Chevron 13"/>
          <p:cNvSpPr/>
          <p:nvPr/>
        </p:nvSpPr>
        <p:spPr>
          <a:xfrm>
            <a:off x="6117336" y="1965960"/>
            <a:ext cx="2005584" cy="8686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5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ซ่อม → QA ตรวจ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เซ็นบนจอ</a:t>
            </a:r>
          </a:p>
        </p:txBody>
      </p:sp>
      <p:sp>
        <p:nvSpPr>
          <p:cNvPr id="16" name="Chevron 15"/>
          <p:cNvSpPr/>
          <p:nvPr/>
        </p:nvSpPr>
        <p:spPr>
          <a:xfrm>
            <a:off x="8004047" y="1965960"/>
            <a:ext cx="2005584" cy="868680"/>
          </a:xfrm>
          <a:prstGeom prst="chevron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8367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OEE อัปเดต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กะนั้น + ผังโรงงาน</a:t>
            </a:r>
          </a:p>
        </p:txBody>
      </p:sp>
      <p:sp>
        <p:nvSpPr>
          <p:cNvPr id="18" name="Chevron 17"/>
          <p:cNvSpPr/>
          <p:nvPr/>
        </p:nvSpPr>
        <p:spPr>
          <a:xfrm>
            <a:off x="9890759" y="1965960"/>
            <a:ext cx="2005584" cy="8686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65079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ขึ้น KPI บน OBEYA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ผู้บริหารเห็นทันที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54679"/>
            <a:ext cx="109728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68734"/>
                </a:solidFill>
                <a:latin typeface="Tahoma"/>
              </a:rPr>
              <a:t>②  ลูกค้าสั่งของเข้ามา</a:t>
            </a:r>
          </a:p>
        </p:txBody>
      </p:sp>
      <p:sp>
        <p:nvSpPr>
          <p:cNvPr id="21" name="Pentagon 20"/>
          <p:cNvSpPr/>
          <p:nvPr/>
        </p:nvSpPr>
        <p:spPr>
          <a:xfrm>
            <a:off x="457200" y="3566160"/>
            <a:ext cx="2005584" cy="868680"/>
          </a:xfrm>
          <a:prstGeom prst="homePlat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เมล EDI เข้า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เข้าคิวเองทุก 15 นาที</a:t>
            </a:r>
          </a:p>
        </p:txBody>
      </p:sp>
      <p:sp>
        <p:nvSpPr>
          <p:cNvPr id="23" name="Chevron 22"/>
          <p:cNvSpPr/>
          <p:nvPr/>
        </p:nvSpPr>
        <p:spPr>
          <a:xfrm>
            <a:off x="2343911" y="3566160"/>
            <a:ext cx="2005584" cy="8686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18231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วางแผน / ติดตาม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ต้องเปิดกี่กะ / OT</a:t>
            </a:r>
          </a:p>
        </p:txBody>
      </p:sp>
      <p:sp>
        <p:nvSpPr>
          <p:cNvPr id="25" name="Chevron 24"/>
          <p:cNvSpPr/>
          <p:nvPr/>
        </p:nvSpPr>
        <p:spPr>
          <a:xfrm>
            <a:off x="4230623" y="3566160"/>
            <a:ext cx="2005584" cy="868680"/>
          </a:xfrm>
          <a:prstGeom prst="chevron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4943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ไลน์ผลิต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สแกนบัตรคัมบัง</a:t>
            </a:r>
          </a:p>
        </p:txBody>
      </p:sp>
      <p:sp>
        <p:nvSpPr>
          <p:cNvPr id="27" name="Chevron 26"/>
          <p:cNvSpPr/>
          <p:nvPr/>
        </p:nvSpPr>
        <p:spPr>
          <a:xfrm>
            <a:off x="6117336" y="3566160"/>
            <a:ext cx="2005584" cy="8686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ปิดใบผลิต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ระบบขอพาร์ทลูกจาก BOM</a:t>
            </a:r>
          </a:p>
        </p:txBody>
      </p:sp>
      <p:sp>
        <p:nvSpPr>
          <p:cNvPr id="29" name="Chevron 28"/>
          <p:cNvSpPr/>
          <p:nvPr/>
        </p:nvSpPr>
        <p:spPr>
          <a:xfrm>
            <a:off x="8004047" y="3566160"/>
            <a:ext cx="2005584" cy="868680"/>
          </a:xfrm>
          <a:prstGeom prst="chevron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8367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สโตร์ / คลัง FG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นับก่อนรับเข้า</a:t>
            </a:r>
          </a:p>
        </p:txBody>
      </p:sp>
      <p:sp>
        <p:nvSpPr>
          <p:cNvPr id="31" name="Chevron 30"/>
          <p:cNvSpPr/>
          <p:nvPr/>
        </p:nvSpPr>
        <p:spPr>
          <a:xfrm>
            <a:off x="9890759" y="3566160"/>
            <a:ext cx="2005584" cy="8686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65079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ส่งของ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ตัดสต็อก · ไม่พอขึ้นแดง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800600"/>
            <a:ext cx="11274552" cy="914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00600"/>
            <a:ext cx="1097280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เลขใบผลิตเดียว สอบกลับได้ทั้งเส้น:  </a:t>
            </a:r>
            <a:r>
              <a:rPr sz="1250" b="0" i="0">
                <a:solidFill>
                  <a:srgbClr val="068734"/>
                </a:solidFill>
                <a:latin typeface="Tahoma"/>
              </a:rPr>
              <a:t>ไลน์ไหน กะไหน ใครทำ เครื่องหยุดกี่ครั้ง ของเสีย การซ่อม จนถึงบรรทัด PFMEA ที่เกี่ยวข้อง — บนจอเดียว (Order Trace)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press2500t.png"/>
          <p:cNvPicPr>
            <a:picLocks noChangeAspect="1"/>
          </p:cNvPicPr>
          <p:nvPr/>
        </p:nvPicPr>
        <p:blipFill>
          <a:blip r:embed="rId2"/>
          <a:srcRect t="5285" b="5285"/>
          <a:stretch>
            <a:fillRect/>
          </a:stretch>
        </p:blipFill>
        <p:spPr>
          <a:xfrm>
            <a:off x="5413248" y="0"/>
            <a:ext cx="677570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" y="0"/>
            <a:ext cx="55778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V="1">
            <a:off x="5532120" y="0"/>
            <a:ext cx="1197864" cy="6858000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377440"/>
            <a:ext cx="5394960" cy="17373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ลงรายละเอียด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ทีละแผนก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ฝ่ายผลิต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บันทึกครั้งเดียวที่หน้างาน แล้วทั้งโรงงานเห็นทันที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ทำอะไรได้บ้าง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เปิดกะแล้วสแกนบัตรคัมบัง ไม่ต้องพิมพ์เลขใบผลิต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ลงเครื่องหยุดและของเสียพร้อมสาเหตุ เห็น OEE (A × P × Q) สดระหว่างกะ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เรียกช่างแยกทีมได้ด้วยปุ่มเดียว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เช็คชื่อ PPE และความเหมาะสมของทักษะต่อจุดงานทุกวัน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LPA ใบรายงานของเสีย และใบรายงานปัญหา พิมพ์เป็นฟอร์ม FM- ทางการ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อนุมัติปิดกะแล้วตัวเลขถูกล็อก แก้ย้อนหลังไม่ได้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จอหลัก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รายงานผลิตรายวัน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เช็คชื่อ / PPE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LPA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ใบรายงานของเสีย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ใบรายงานปัญหา / ถัง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ผังโรงงาน / จอ TV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เชื่อมกับแผนก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เรียกช่าง + เปิดใบซ่อมต่อจากเครื่องหยุด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ของสงสัยเข้าถังเหลือง/แดง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สโตร์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ปิดใบผลิตแล้วขอพาร์ทลูกให้เอง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ผู้บริหาร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OEE ไหลเข้า KPI บน OBEYA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เห็นทันที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รู้ OEE ระหว่างกะ ไม่ต้องรอสิ้นเดือน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ลดภาระงาน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เลิกเขียนรายงานมือและคีย์ซ้ำ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ใช้งานง่าย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สแกนแทนการเลือกจากลิสต์ยาว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ลดต้นทุน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เรียกช่างเร็ว ไลน์รอน้อยลง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ซ่อมบำรุง (MTN)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จากการโทรตาม สู่ใบแจ้งซ่อมที่ติดตามได้ทุกขั้น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ทำอะไรได้บ้าง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การเรียกเด้งถึงมือถือทีมที่ถูกต้องและบอร์ด Andon พร้อมเสียงเตือน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เปิดใบแจ้งซ่อม MO ต่อจากเครื่องหยุดได้ทันที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งานซ่อมเริ่มได้เลย เซ็นอนุมัติตามหลังบนจอ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แผน PM วันครบกำหนด และใบตรวจ เลยกำหนดขึ้นแดง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อะไหล่ที่ใช้ต่อใบ MO จัดอันดับ A/B/C ให้เอง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KPI ช่าง MTTR / MTBF และ QC 7 Tools ในตัว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จอหลัก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ใบแจ้งซ่อม MO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บอร์ด Andon ช่าง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PM ล่วงหน้า / ใบตรวจ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แผนประสานงาน PM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ทะเบียนอุปกรณ์ / อะไหล่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วิเคราะห์งานซ่อม / QC7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เชื่อมกับแผนก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ผลิต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รับเรียกจากไลน์ แจ้งกลับเมื่อเดินเครื่องได้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ตรวจงานซ่อมก่อนปิดใบ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สโตร์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สต็อกและการเบิกอะไหล่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วางแผน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เห็นวัน PM ล่วงหน้า ผลิตเผื่อได้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เห็นทันที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เรียกช่างถึงรับเรื่อง P80: 529 → 30 นาที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ลดภาระงาน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เลิกใช้ฟอร์มกระดาษ FM-MTN-006 / FM-JIG-008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ใช้งานง่าย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ทำทุกอย่างบนมือถือที่หน้าเครื่อง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ลดต้นทุน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ซ่อมเสร็จ P80: 7.9 → 0.9 ชม.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JIG และ DIE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ประวัติจิ๊กและแม่พิมพ์อยู่ที่เดียว แทนไฟล์แยกกระจาย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ทำอะไรได้บ้าง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ทะเบียนจิ๊กและแม่พิมพ์ พร้อมป้าย QR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จุดตรวจจิ๊กพร้อมรูปทุกจุด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บันทึกการใส่ชิม (shim) ตามข้อกำหนดลูกค้า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สถานะแม่พิมพ์: พร้อม / ซ่อม / อยู่ที่เครื่อง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กฎเวลาเปลี่ยนรุ่นต่อเครื่อง (ความสูงแม่พิมพ์ / shut height)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ทีม JIG / DIE ได้รับเฉพาะงานของทีมตัวเอง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จอหลัก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ศูนย์ทะเบียนอุปกรณ์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ทะเบียนจิ๊ก / ชิม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ซ่อมบำรุงแม่พิมพ์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ตั้งค่า PM (จุดตรวจจิ๊ก)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ใบแจ้งซ่อม 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เชื่อมกับแผนก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ผลิต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เรียกทีม JIG / DIE ได้ตรง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ใช้ขั้นตอน MO เดียวกัน แยกทีม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วางแผน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เวลาเปลี่ยนแม่พิมพ์ใช้ในแผน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ตรวจหลังซ่อมจิ๊ก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เห็นทันที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แจ้งเตือนเฉพาะทีมที่เกี่ยวข้อง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ลดภาระงาน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ทะเบียนเดียว เลิกไฟล์ Excel แยก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ใช้งานง่าย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สแกนแล้วเห็นประวัติทันที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ลดต้นทุน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ลดการเรียกผิดทีมและการเดินตาม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ประกันคุณภาพ (QA)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ตัดสินคุณภาพและบันทึกผลที่หน้างาน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ทำอะไรได้บ้าง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ใบตรวจทีละชิ้น ค่าหลุดสเปกกดผ่านไม่ได้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แท็กถังเหลือง/แดงนับอายุ QA ตัดสิน ทิ้ง / ซ่อม / ใช้ได้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อนุมัติ 4M แจ้งเตือน Telegram ทุกขั้น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บันทึกเหตุการณ์งานเชื่อม CQI-15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ใบเบิกชิ้นทดสอบ FM-STO-003 แทนใบเขียนมือ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ของสงสัยยังไม่นับใน %Q จนกว่า QA ตัดสิน ตัวเลขจึงตรงจริง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จอหลัก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ใบตรวจ QA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ถังเหลือง / แดง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อนุมัติ 4M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บันทึก CQI-15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ใบเบิกชิ้นทดสอบ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เชื่อมกับแผนก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ผลิต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ถังและใบ 4M มาจากไลน์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QA ตรวจงานซ่อมก่อนปิดใบ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สโตร์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จ่ายชิ้นทดสอบให้ QA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ของเสียโยงถึงบรรทัด PFMEA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เห็นทันที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เตือนก่อนแท็กถังหมดอายุ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ลดภาระงาน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เลิกเขียนกระดาษ 3 ใบต่อปัญหา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ใช้งานง่าย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ตัดสินบนจอที่หน้าถัง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ลดต้นทุน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นับของเสียครั้งเดียว คิดต้นทุนถูก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สโตร์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จากขอของผ่านแชท LINE สู่คิวงานที่ติดตามได้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ทำอะไรได้บ้าง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บอร์ดสโตร์: เติม WIP · พาร์ทลูก · วัตถุดิบ · จัดซื้อ · FG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ปิดใบผลิตแล้วระบบกระจาย BOM ขอพาร์ทลูกให้เอง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สแกนชิ้นงาน (ผิดตัว = บล็อก) และ QR จุดส่ง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นับก่อนรับเข้า ยอดไม่ตรงต้องใส่เหตุผล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ปรับยอดสต็อกเองต้องรออนุมัติ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เฝ้าระวัง: ต่ำกว่า Min · เกิน Max · รอบส่งเลยเวลา · รับไม่ครบ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จอหลัก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บอร์ดสโตร์ / Heijunka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สต็อกไลน์ / รับเข้า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เฝ้าระวังสต็อก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Flow Tower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ใบเบิกวัสดุ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เชื่อมกับแผนก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ผลิต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ไลน์ขอเติมของ / ปิดใบผลิต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จัดซื้อ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ของขาดเปิดใบขอซื้อให้เอง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จ่ายชิ้นทดสอบตามใบอนุมัติ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จัดส่ง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รับ FG เข้าคลังเพื่อส่ง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เห็นทันที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รอบส่งเลยเวลาหรือของขาดขึ้นแดง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ลดภาระงาน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เลิกไล่อ่านคำขอจากแชทกลุ่ม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ใช้งานง่าย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สแกนหยิบ สแกนส่ง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ลดต้นทุน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สต็อกเกินลดลง ของขาดน้อยลง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Logistic และการจัดส่ง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ยอดสั่งลูกค้าเข้าระบบเอง ส่งของแล้วตัดสต็อกทันที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ทำอะไรได้บ้าง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ไฟล์แนบ EDI 830 / 862 ดึงจากเมลเข้าคิวเอง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ยอดเรียกของลูกค้า (e-SMART) เป็นยอดสุดท้ายแทนแผน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นับถอยหลังการส่ง 4 เฟส สีบอก สต็อกพอ / ขาด / ไม่มี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กด 'ส่งแล้ว' ตัดสต็อก FG ทันที ตัดไม่ได้ขึ้นแดง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รับ FG จากไลน์: นับก่อนแล้วค่อยรับ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ขนส่งในโรงงาน: มอบหมายคนขับ จัดลำดับจุดจอดสั้นสุด จำลองเส้นทาง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จอหลัก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ความต้องการลูกค้า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Planner &amp; Sales (EDI)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สต็อก FG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ขนส่งในโรงงาน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Rundown stock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เชื่อมกับแผนก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ขาย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EDI และ e-SMART ส่งยอดสั่ง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ผลิต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เตือน 'ไม่มีสต็อก ต้องผลิต!'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สโตร์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รับ FG จากใบที่ปิดแล้ว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เครื่องเสียกระทบรอบส่งไหน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เห็นทันที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รอบส่งเสี่ยงขึ้นแดงล่วงหน้า 1 วัน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ลดภาระงาน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เลิกเซฟไฟล์แนบแล้วลากเข้าเอง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ใช้งานง่าย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จอเดียวต่อรอบส่ง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ลดต้นทุน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ลดการส่งด่วนพิเศษจากเรื่องไม่คาดคิด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วางแผนและขาย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วางแผนจากกำลังผลิตจริง ไม่ใช่จาก Excel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ทำอะไรได้บ้าง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แผนผลิตจากยอดจริง (ค่ากลาง 60 วันล่าสุด)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บอกว่าต้องเปิดกี่กะ วันไหนต้อง OT กะดึก หรือทำวันหยุด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บอร์ด Monitoring แทน Excel 13 ชีทที่ทำทุกวัน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คำนวณคัมบังจาก forecast ตามปฏิทินบริษัท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จับคู่เลขพาร์ทลูกค้ากับ MAT จับไม่ได้ระบบเตือน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แผนเทียบผลจริงรายพาร์ท ผลิตเกิน/นอกแผนโชว์ ไม่ซ่อน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จอหลัก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แผนการผลิต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บอร์ด Monitoring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คำนวณคัมบัง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Planner &amp; Sales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ปฏิทินบริษัท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เชื่อมกับแผนก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ขาย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ยอดสั่งและ forecast เข้า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ผลิต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แผน = กรอบ ไลน์เป็นคนยืนยันยอด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สโตร์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จำนวนคัมบังและขนาดล็อต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เห็นวัน PM ก่อนวางแผน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เห็นทันที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แผนเทียบจริงอัปเดตทันทีที่ไลน์ปิดใบ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ลดภาระงาน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เลิกทำ Excel 13 ชีททุกวัน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ใช้งานง่าย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หน้าตาเหมือน Excel ที่ทีมคุ้นเคย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ลดต้นทุน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เปิดกะและ OT พอดี ไม่เกินจำเป็น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วิศวกรรม (PE) และ NPI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เอกสารกระบวนการเป็นข้อมูลชุดเดียวที่อัปเดตตลอด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ทำอะไรได้บ้าง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Process Flow · PFMEA · Control Plan จากข้อมูลชุดเดียว (ตาม OP)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นำเข้าไฟล์ Excel เดิมได้ ส่งออกตามรูปแบบเดิม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คลัง PFMEA กลาง ระบบเสนอ วิศวกรตัดสิน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ทุก revision โยงถึงเคลม ของเสีย หรืองานซ่อมที่เป็นต้นเหตุ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NPI: เฟส APQP · PPAP · revision แบบ · แผน tooling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เปลี่ยน 4M ด้าน Method โยงกับการเปลี่ยนแปลงทางวิศวกรรม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จอหลัก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เอกสาร PE (PFC / PFMEA / CP)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คลัง PFMEA กลาง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NPI / APQP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เปลี่ยนแปลง 4M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สอบกลับใบผลิต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เชื่อมกับแผนก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ของเสียและ 8D ชี้ถึงบรรทัด PFMEA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ผลิต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Control Plan ใช้ที่หน้างาน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งานซ่อมเป็นเหตุให้แก้ revision ได้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ผู้บริหาร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สถานะพาร์ทใหม่รายลูกค้า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เห็นทันที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แก้ที่เดียว Flow / FMEA / CP ตรงกันเสมอ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ลดภาระงาน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เลิกไฟล์ Excel 3 ไฟล์ต่อพาร์ท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ใช้งานง่าย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เห็นทุก revision และเหตุผล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ลดต้นทุน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ขยายผลข้ามพาร์ท ลดเคลมซ้ำ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HR และธุรการ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คน ทักษะ และปฏิทินที่ทุกแผนต้องพึ่ง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ทำอะไรได้บ้าง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ใบอบรม OJT FM-HRM-004 เซ็นบนจอ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ตารางทักษะและใบประเมินรายบุคคลพิมพ์จากข้อมูล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เช็คชื่อรายวัน OT และจองรถวันหยุด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ปฏิทินบริษัทคุม OT คัมบัง แผนผลิต PM และ LPA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ข้อมูลกำลังคน: รายวัน การย้ายจุดงาน และ turnover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ส่งออกชุด KPI รายเดือนตามฟอร์ม HRM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จอหลัก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อบรม OJT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ตารางทักษะ / พนักงาน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ข้อมูลกำลังคน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ปฏิทินบริษัท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บอร์ดกำลังคน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เชื่อมกับแผนก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ผลิต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ทักษะเหมาะกับจุดงาน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ทุกแผนก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ปฏิทินผิด กระทบทุกแผน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ผู้บริหาร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กำลังคนและ turnover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ชุด KPI ตามฟอร์มทางการ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เห็นทันที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เห็นกำลังคนรายไลน์วันนี้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ลดภาระงาน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เลิกพิมพ์และเซ็นกระดาษเป็นปึก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ใช้งานง่าย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เซ็นบนจอ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ลดต้นทุน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ลด OT ที่วางผิด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ผู้บริหารและ OBEYA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เห็นทั้งโรงงานบนผนังเดียว และบนมือถือ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ทำอะไรได้บ้าง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บอร์ด OBEYA KPI และ SQDCM ตัวเลขจริงมาจากหน้างาน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ผังโรงงาน: สถานะ Andon ทุกไลน์บนจอเดียว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จอ TV รายแผนก ควบคุมจากมือถือ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สอบกลับใบผลิต: เลขเดียวเห็นประวัติทั้งหมด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บอร์ด Action: หลุดเป้า → ผู้รับผิดชอบ → กำหนดเสร็จ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'อัพเดทโปรแกรม' บอกว่าแต่ละสัปดาห์เปลี่ยนอะไร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จอหลัก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OBEYA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ผังโรงงาน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จอ TV / Dashboard แผนก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สอบกลับใบผลิต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อัพเดทโปรแกรม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เชื่อมกับแผนก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ทุกแผนก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KPI ทุกตัวมาจากบันทึกของแผนก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ผลิต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Andon และ OEE รายไลน์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ต้นทุนเครื่องหยุดและ MTTR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วางแผน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แผนเทียบจริงรายพาร์ท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เห็นทันที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KPI อัปเดตตามที่หน้างานบันทึก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ลดภาระงาน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เลิกพิมพ์ KPI แปะผนัง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ใช้งานง่าย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จอเดียวตอบ 'ตอนนี้เราอยู่ตรงไหน'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ลดต้นทุน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ตัดสินใจจากข้อเท็จจริงได้เร็วขึ้น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robots.png"/>
          <p:cNvPicPr>
            <a:picLocks noChangeAspect="1"/>
          </p:cNvPicPr>
          <p:nvPr/>
        </p:nvPicPr>
        <p:blipFill>
          <a:blip r:embed="rId2"/>
          <a:srcRect t="2975" b="2975"/>
          <a:stretch>
            <a:fillRect/>
          </a:stretch>
        </p:blipFill>
        <p:spPr>
          <a:xfrm>
            <a:off x="5413248" y="0"/>
            <a:ext cx="677570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" y="0"/>
            <a:ext cx="55778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V="1">
            <a:off x="5532120" y="0"/>
            <a:ext cx="1197864" cy="6858000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377440"/>
            <a:ext cx="5394960" cy="17373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ได้ประโยชน์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อะไรบ้าง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68734"/>
                </a:solidFill>
                <a:latin typeface="Tahoma"/>
              </a:rPr>
              <a:t>เห็นทันที: ทุกคนเห็นเหตุการณ์เดียวกันพร้อมกัน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จาก 'รู้ตอนสิ้นเดือน' เป็น 'เห็นระหว่างกะ'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2697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73352"/>
            <a:ext cx="269748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95323"/>
                </a:solidFill>
                <a:latin typeface="Tahoma"/>
              </a:rPr>
              <a:t>529 → 30 นาที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5146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เรียกช่าง → รับเรื่อง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5146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P80 · ส.ค. → ก.ย.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600200"/>
            <a:ext cx="2697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673352"/>
            <a:ext cx="269748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95323"/>
                </a:solidFill>
                <a:latin typeface="Tahoma"/>
              </a:rPr>
              <a:t>7.7 → 3.2 นาที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331720"/>
            <a:ext cx="25146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เครื่องหยุด → เปิดใบซ่อม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697480"/>
            <a:ext cx="25146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ค่ากลาง · ส.ค. → ก.ย.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697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673352"/>
            <a:ext cx="269748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95323"/>
                </a:solidFill>
                <a:latin typeface="Tahoma"/>
              </a:rPr>
              <a:t>7.9 → 0.9 ชม.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331720"/>
            <a:ext cx="25146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เปิดใบซ่อม → ซ่อมเสร็จ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697480"/>
            <a:ext cx="25146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P80 · ส.ค. → ก.ย.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600200"/>
            <a:ext cx="2697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1673352"/>
            <a:ext cx="269748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D95323"/>
                </a:solidFill>
                <a:latin typeface="Tahoma"/>
              </a:rPr>
              <a:t>70% → 96%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331720"/>
            <a:ext cx="25146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กะที่มี OEE ตอนปิดกะ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2697480"/>
            <a:ext cx="25146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ก.ค. → ก.ย.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46120"/>
            <a:ext cx="557784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46120"/>
            <a:ext cx="5577840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46120"/>
            <a:ext cx="55778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อะไรอัปเดตสดบ้าง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758183"/>
            <a:ext cx="5303520" cy="19293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สถานะ Andon ทุกไลน์ บนผังโรงงานและจอ TV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OEE ยอดผลิต และเครื่องหยุดระหว่างกะ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บอร์ด Andon ช่างพร้อมเสียงเตือนแยกทีม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รอบส่งของ: พอ / ขาด / ล่าช้า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3246120"/>
            <a:ext cx="557784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3912" y="3246120"/>
            <a:ext cx="5577840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53912" y="3246120"/>
            <a:ext cx="55778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แจ้งคนที่เกี่ยวข้องอย่างไร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3758183"/>
            <a:ext cx="5303520" cy="19293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แจ้งเตือนมือถือและ Telegram เฉพาะทีมที่เกี่ยวข้อง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ไม่มีคนรับใน 15 นาที ระบบเตือนต่อเอง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'คิวงานของฉัน' งานที่รอเราอยู่ที่เดียว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สรุปงานตอนเช้ารายแผนก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  <a:latin typeface="Tahoma"/>
              </a:rPr>
              <a:t>วัดจากฐานข้อมูล ESM · 6 ต.ค. 2569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ลดภาระงาน: เลิกกระดาษและการคีย์ซ้ำ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จำนวนบันทึกต่อเดือนที่เมื่อก่อนเป็นกระดาษหรือ Excel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66751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1051560"/>
                <a:gridCol w="1051560"/>
              </a:tblGrid>
              <a:tr h="34747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ahoma"/>
                        </a:rPr>
                        <a:t>บันทึก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ahoma"/>
                        </a:rPr>
                        <a:t>แทนของเดิม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ahoma"/>
                        </a:rPr>
                        <a:t>ส.ค.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ahoma"/>
                        </a:rPr>
                        <a:t>ก.ย.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ใบแจ้งซ่อม (MO)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FM-MTN-006 / FM-JIG-008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76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D95323"/>
                          </a:solidFill>
                          <a:latin typeface="Tahoma"/>
                        </a:rPr>
                        <a:t>496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ใบตรวจ PM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Check sheet กระดาษ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6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D95323"/>
                          </a:solidFill>
                          <a:latin typeface="Tahoma"/>
                        </a:rPr>
                        <a:t>88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บันทึกเครื่องหยุด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สมุด / กระดาน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3,688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D95323"/>
                          </a:solidFill>
                          <a:latin typeface="Tahoma"/>
                        </a:rPr>
                        <a:t>3,792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รายงานกะ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Daily report กระดาษ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497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D95323"/>
                          </a:solidFill>
                          <a:latin typeface="Tahoma"/>
                        </a:rPr>
                        <a:t>505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ตรวจ LPA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FM-QMR-008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289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D95323"/>
                          </a:solidFill>
                          <a:latin typeface="Tahoma"/>
                        </a:rPr>
                        <a:t>222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บันทึกเช็คชื่อ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ใบเช็คชื่อ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2,897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D95323"/>
                          </a:solidFill>
                          <a:latin typeface="Tahoma"/>
                        </a:rPr>
                        <a:t>3,489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600200"/>
            <a:ext cx="4416552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600200"/>
            <a:ext cx="4416552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600200"/>
            <a:ext cx="441655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ระบบทำให้เอง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112264"/>
            <a:ext cx="4142232" cy="29809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คำนวณ OEE · MTTR · MTBF · PPM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คิดวันครบกำหนด PM และจำนวนคัมบัง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เปิดใบงานต่อเนื่อง (MO · ขอพาร์ท · ขอซื้อ)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พิมพ์ฟอร์ม FM- ทางการพร้อมเลขที่เอกสาร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ส่งออกชุด KPI รายเดือน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11274552" cy="5029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97280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บันทึกครั้งเดียวที่หน้างาน → ไม่ต้องคีย์ลง Excel ซ้ำ ไม่ต้องส่งต่อข้อมูลกันเองระหว่างแผนก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  <a:latin typeface="Tahoma"/>
              </a:rPr>
              <a:t>วัดจากฐานข้อมูล ESM · 6 ต.ค. 2569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ใช้งานง่าย: ออกแบบมาเพื่อหน้างาน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ออกแบบร่วมกับคนที่ใช้งานทุกวัน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657600" cy="10972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5623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สแกน ไม่ต้องค้นหา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ป้าย QR ติดเครื่องจักร จิ๊ก ชิ้นงาน และจุดส่ง สแกนแล้วเลือกให้เลย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0020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600200"/>
            <a:ext cx="3657600" cy="10972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85623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จอภาษาไทย บัญชีเดียว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77440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บัญชีเดียวทุกแผนก เมนูโชว์เฉพาะที่ต้องใช้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3657600" cy="10972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5623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มือถือ PC หรือจอ TV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77440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ทดสอบบนจอมือถือ และเบราว์เซอร์ของจอ TV รุ่นปี 2023 ที่หน้าไลน์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0332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3657600" cy="10972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5935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ใช้มือถือคุมจอ TV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80559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ไม่ต้องมีคีย์บอร์ดที่จอ จับคู่ด้วยรหัส 6 หลัก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70332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703320"/>
            <a:ext cx="3657600" cy="10972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95935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'คิวงานของฉัน'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80559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งานที่รอเราทั้งหมดในลิสต์เดียว ไม่ต้องไล่หา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70332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703320"/>
            <a:ext cx="3657600" cy="10972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95935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กันพลาดตั้งแต่ต้น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80559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หยิบผิดชิ้นถูกบล็อก · เวลาหลุดกะถูกเตือน · AM/PM สลับแก้ได้คลิกเดียว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ลดต้นทุน: ประหยัดได้จากตรงไหน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ผลที่วัดได้วันนี้ — มูลค่าเป็นเงินบาทจะคำนวณร่วมกับฝ่ายบัญชี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109728" cy="18470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95323"/>
                </a:solidFill>
                <a:latin typeface="Tahoma"/>
              </a:rPr>
              <a:t>พัฒนาเอง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ไม่มีค่าไลเซนส์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ทีมในโรงงานพัฒนาเอง ไม่มีค่าไลเซนส์รายคนหรือรายโมดูล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00200"/>
            <a:ext cx="109728" cy="18470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73736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95323"/>
                </a:solidFill>
                <a:latin typeface="Tahoma"/>
              </a:rPr>
              <a:t>อุปกรณ์เดิม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5856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ใช้อุปกรณ์ที่มีอยู่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5176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ทำงานบนเว็บเบราว์เซอร์ ใช้ PC มือถือ และจอ TV ที่มีอยู่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0020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00200"/>
            <a:ext cx="109728" cy="18470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73736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D95323"/>
                </a:solidFill>
                <a:latin typeface="Tahoma"/>
              </a:rPr>
              <a:t>~1,300 ใบ/เดือน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5856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ลดกระดาษและงานพิมพ์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5176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ใบซ่อม ใบตรวจ PM รายงานกะ และ LPA อยู่ในระบบแล้ว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109728" cy="18470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4904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95323"/>
                </a:solidFill>
                <a:latin typeface="Tahoma"/>
              </a:rPr>
              <a:t>7.9 → 0.9 ชม.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7024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เครื่องรอซ่อมน้อยลง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66344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เปิดใบซ่อม → ซ่อมเสร็จ (P80)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61188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611880"/>
            <a:ext cx="109728" cy="18470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74904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D95323"/>
                </a:solidFill>
                <a:latin typeface="Tahoma"/>
              </a:rPr>
              <a:t>บันทึกครั้งเดียว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27024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ลดเวลางานเอกสาร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66344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ไม่ต้องคีย์กระดาษลง Excel KPI และฟอร์มสร้างให้เอง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61188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611880"/>
            <a:ext cx="109728" cy="18470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74904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95323"/>
                </a:solidFill>
                <a:latin typeface="Tahoma"/>
              </a:rPr>
              <a:t>จ่ายตามใช้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27024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คลาวด์ต้นทุนต่ำ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66344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ไม่ต้องมีห้องเซิร์ฟเวอร์ จ่ายตามการใช้งาน คุมขนาดรูปและข้อมูล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  <a:latin typeface="Tahoma"/>
              </a:rPr>
              <a:t>วัดจากฐานข้อมูล ESM · 6 ต.ค. 2569 · ~1,300 = MO 496 + PM 88 + รายงานกะ 505 + LPA 222 (ก.ย.)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ก้าวต่อไป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ใช้ให้ลึกที่ TSAT ก่อน แล้วทำสูตรขยายไปโรงงานอื่น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22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554480"/>
            <a:ext cx="566928" cy="566928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499616"/>
            <a:ext cx="10543032" cy="7132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99616"/>
            <a:ext cx="347472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ทุกแผนกบันทึกทุกวัน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499616"/>
            <a:ext cx="676656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ถัง QA · สถานะ JIG/DIE · เอกสาร PE · แผนผลิต — จาก 'พร้อมใช้' เป็น 'ใช้จริง'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423160"/>
            <a:ext cx="566928" cy="566928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2368296"/>
            <a:ext cx="10543032" cy="7132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368296"/>
            <a:ext cx="347472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ผู้บริหารใช้ตัวเลขตัดสินใจ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368296"/>
            <a:ext cx="676656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ตั้ง Action ใน OBEYA อย่างน้อยเดือนละ 5 รายการ มีผู้รับผิดชอบและกำหนดเสร็จ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291839"/>
            <a:ext cx="566928" cy="566928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91839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236975"/>
            <a:ext cx="10543032" cy="7132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236975"/>
            <a:ext cx="347472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แก้จุดส่งต่อที่ยังช้า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236975"/>
            <a:ext cx="676656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ใบซ่อมรอ QA ตรวจ · การรับเข้าคลังหลังปิดใบผลิต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160520"/>
            <a:ext cx="566928" cy="566928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60520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4105656"/>
            <a:ext cx="10543032" cy="7132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105656"/>
            <a:ext cx="347472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ต่อเครื่องจักร (เฟสถัดไป)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105656"/>
            <a:ext cx="676656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สัญญาณ SCADA เป็นข้อเท็จจริง คนยังเป็นผู้บอกสาเหตุและของเสีย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029200"/>
            <a:ext cx="566928" cy="566928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029200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4974336"/>
            <a:ext cx="10543032" cy="7132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4974336"/>
            <a:ext cx="347472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ขยายไปโรงงานอื่น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974336"/>
            <a:ext cx="676656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ระบบเดียวกัน ข้อมูลแยกแต่ละโรง เริ่มที่ผลิตและซ่อมบำรุง แล้วค่อยเพิ่มแผนก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068734"/>
                </a:solidFill>
                <a:latin typeface="Tahoma"/>
              </a:rPr>
              <a:t>ก้าวต่อไป: จาก TSAT สู่โรงงานอื่นในกลุ่ม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โปรแกรมเดียวกัน · ข้อมูลของแต่ละโรงงานแยกกัน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23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1920240" cy="1920240"/>
          </a:xfrm>
          <a:prstGeom prst="ellipse">
            <a:avLst/>
          </a:prstGeom>
          <a:solidFill>
            <a:srgbClr val="F2F2F2"/>
          </a:solidFill>
          <a:ln w="2540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920240" cy="1920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300" b="0" i="0">
                <a:solidFill>
                  <a:srgbClr val="068734"/>
                </a:solidFill>
                <a:latin typeface="Segoe UI Emoji"/>
              </a:rPr>
              <a:t>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2651760" cy="7315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95323"/>
                </a:solidFill>
                <a:latin typeface="Tahoma"/>
              </a:rPr>
              <a:t>TSAT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55555"/>
                </a:solidFill>
                <a:latin typeface="Tahoma"/>
              </a:rPr>
              <a:t>ใช้งานจริงวันนี้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1920240"/>
            <a:ext cx="1005840" cy="384048"/>
          </a:xfrm>
          <a:prstGeom prst="rightArrow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69164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691640"/>
            <a:ext cx="86868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0" i="0">
                <a:solidFill>
                  <a:srgbClr val="068734"/>
                </a:solidFill>
                <a:latin typeface="Segoe UI Emoji"/>
              </a:rPr>
              <a:t>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874520"/>
            <a:ext cx="173736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โรงงาน 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63240" y="3017520"/>
            <a:ext cx="1005840" cy="384048"/>
          </a:xfrm>
          <a:prstGeom prst="rightArrow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06240" y="278892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788920"/>
            <a:ext cx="86868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0" i="0">
                <a:solidFill>
                  <a:srgbClr val="068734"/>
                </a:solidFill>
                <a:latin typeface="Segoe UI Emoji"/>
              </a:rPr>
              <a:t>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971800"/>
            <a:ext cx="173736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โรงงาน B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63240" y="4114800"/>
            <a:ext cx="1005840" cy="384048"/>
          </a:xfrm>
          <a:prstGeom prst="rightArrow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88620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3886200"/>
            <a:ext cx="86868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0" i="0">
                <a:solidFill>
                  <a:srgbClr val="068734"/>
                </a:solidFill>
                <a:latin typeface="Segoe UI Emoji"/>
              </a:rPr>
              <a:t>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4069080"/>
            <a:ext cx="173736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โรงงาน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846320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55555"/>
                </a:solidFill>
                <a:latin typeface="Tahoma"/>
              </a:rPr>
              <a:t>ข้อมูลแยก · ผู้ใช้แยก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1600200"/>
            <a:ext cx="4663440" cy="3794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86600" y="1600200"/>
            <a:ext cx="466344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600200"/>
            <a:ext cx="466344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โรงงานใหม่เตรียม 3 อย่าง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0" y="2194560"/>
            <a:ext cx="822960" cy="82296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2194560"/>
            <a:ext cx="82296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700" b="0" i="0">
                <a:solidFill>
                  <a:srgbClr val="068734"/>
                </a:solidFill>
                <a:latin typeface="Segoe UI Emoji"/>
              </a:rPr>
              <a:t>🖥️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212848"/>
            <a:ext cx="329184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ที่ตั้งระบบ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55555"/>
                </a:solidFill>
                <a:latin typeface="Tahoma"/>
              </a:rPr>
              <a:t>IT · ไม่กี่วัน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0" y="3218688"/>
            <a:ext cx="822960" cy="82296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3218688"/>
            <a:ext cx="82296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700" b="0" i="0">
                <a:solidFill>
                  <a:srgbClr val="068734"/>
                </a:solidFill>
                <a:latin typeface="Segoe UI Emoji"/>
              </a:rPr>
              <a:t>🛠️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236976"/>
            <a:ext cx="329184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ชื่อ โลโก้ ฟอร์มของตัวเอง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55555"/>
                </a:solidFill>
                <a:latin typeface="Tahoma"/>
              </a:rPr>
              <a:t>ทีม ESM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0" y="4242816"/>
            <a:ext cx="822960" cy="82296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4242816"/>
            <a:ext cx="82296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700" b="0" i="0">
                <a:solidFill>
                  <a:srgbClr val="068734"/>
                </a:solidFill>
                <a:latin typeface="Segoe UI Emoji"/>
              </a:rPr>
              <a:t>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261104"/>
            <a:ext cx="329184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ข้อมูลของโรงงาน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55555"/>
                </a:solidFill>
                <a:latin typeface="Tahoma"/>
              </a:rPr>
              <a:t>คน · ไลน์ · เครื่องจักร · สินค้า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77840"/>
            <a:ext cx="112928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577840"/>
            <a:ext cx="112928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50" b="1" i="0">
                <a:solidFill>
                  <a:srgbClr val="FFFFFF"/>
                </a:solidFill>
                <a:latin typeface="Tahoma"/>
              </a:rPr>
              <a:t>เริ่มที่ฝ่ายผลิต + ซ่อมบำรุง บนไลน์นำร่อง 1–2 ไลน์ แล้วค่อยเพิ่มแผนก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79776"/>
            <a:ext cx="10552176" cy="6492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500" b="1" i="0">
                <a:solidFill>
                  <a:srgbClr val="068734"/>
                </a:solidFill>
                <a:latin typeface="Tahoma"/>
              </a:rPr>
              <a:t>Before We Build Parts, We Build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105521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95323"/>
                </a:solidFill>
                <a:latin typeface="Tahoma"/>
              </a:rPr>
              <a:t>บันทึกครั้งเดียว ทุกคนเห็น ทันที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5521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68734"/>
                </a:solidFill>
                <a:latin typeface="Tahoma"/>
              </a:rPr>
              <a:t>ขอบคุณ  ·  ถาม-ตอบ</a:t>
            </a:r>
          </a:p>
        </p:txBody>
      </p:sp>
      <p:pic>
        <p:nvPicPr>
          <p:cNvPr id="5" name="Picture 4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