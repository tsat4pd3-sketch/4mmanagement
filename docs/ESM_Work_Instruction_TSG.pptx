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2514600"/>
            <a:ext cx="1033272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068734"/>
                </a:solidFill>
                <a:latin typeface="Tahoma"/>
              </a:rPr>
              <a:t>ESM — Work Instruction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คู่มือการใช้งานระบบบริหารจัดการโรงงาน (Enterprise Shopfloor Management)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จัดทำ: ทีมพัฒนาระบบ ESM   ·   ปรับปรุง 21 กรกฎาคม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55555"/>
                </a:solidFill>
                <a:latin typeface="Tahoma"/>
              </a:rPr>
              <a:t>Thai Summit Group  ·  ครบทุกฟีเจอร์ — แบ่งตามหมวดการใช้งาน และเลเวลของผู้ใช้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D95323"/>
                </a:solidFill>
                <a:latin typeface="Tahoma"/>
              </a:rPr>
              <a:t>Before We Build Parts, We Build People</a:t>
            </a:r>
          </a:p>
        </p:txBody>
      </p:sp>
      <p:pic>
        <p:nvPicPr>
          <p:cNvPr id="9" name="Picture 8" descr="logo_r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731520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Agenda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ahom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82296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เลเวลของผู้ใช้ (User Level / Role)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75688"/>
            <a:ext cx="8229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11 เลเวล + ขอบเขตการเห็นข้อมูล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15768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ahom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70048"/>
            <a:ext cx="82296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พื้นฐานที่ทุกคนต้องรู้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8229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login · เมนู · กะ/วันที่งาน · ไฟ Andon · แจ้งเตือน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39896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39896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ahom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94176"/>
            <a:ext cx="82296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ฟีเจอร์แยกตามหมวดการใช้งาน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23944"/>
            <a:ext cx="8229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~37 หน้า ใน 8 หมวดเมนู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764024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64024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ahom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18304"/>
            <a:ext cx="82296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สรุปสิทธิ์การเข้าถึงตามเลเวล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48072"/>
            <a:ext cx="8229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ใครใช้หน้าไหนได้บ้าง</a:t>
            </a:r>
          </a:p>
        </p:txBody>
      </p:sp>
      <p:pic>
        <p:nvPicPr>
          <p:cNvPr id="24" name="Picture 23" descr="logo_r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photo_press2500t.png"/>
          <p:cNvPicPr>
            <a:picLocks noChangeAspect="1"/>
          </p:cNvPicPr>
          <p:nvPr/>
        </p:nvPicPr>
        <p:blipFill>
          <a:blip r:embed="rId3"/>
          <a:srcRect t="5285" b="5285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651760"/>
            <a:ext cx="5394960" cy="1463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Part 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User Levels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เลเวลของผู้ใช้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เลเวลของผู้ใช้ (Role)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11 เลเวล — Role คือ "ชุดสิทธิ์การใช้ระบบ" ไม่ใช่ตำแหน่งงานจริง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1945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Role (ในระบบ)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600200"/>
            <a:ext cx="22860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ชื่อแสดงผล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00200"/>
            <a:ext cx="67665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ใช้ระบบทำอะไรได้ (ภาพรวม)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11247120" cy="379476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965960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ผู้ดูแลระบบ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965960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ทุกอย่าง — สร้าง/ลบผู้ใช้ จัดการสิทธิ์ ตั้งค่าระบบ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5436"/>
            <a:ext cx="1124712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345436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2345436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สิทธิ์ทั้งฝ่าย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345436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ดู+แก้ได้ทุกหน้า (ยกเว้นจัดการผู้ใช้) · อนุมัติได้ทุกขั้น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24912"/>
            <a:ext cx="11247120" cy="379476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724912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supervisor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2724912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สิทธิ์ระดับส่วน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2624" y="2724912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จัดการเฉพาะ section ตัวเอง · ลงทะเบียนพนักงาน · อนุมัติ 4M ขั้นแรก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4388"/>
            <a:ext cx="1124712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104388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leader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624" y="3104388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สิทธิ์ระดับไลน์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3104388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เห็นเฉพาะไลน์/ทีมตัวเอง · เช็คชื่อ · เปิดกะ/สแกน · ขอปิดกะ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83864"/>
            <a:ext cx="11247120" cy="379476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483864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3483864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งานคุณภาพ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3483864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ดูทั้งโรงงาน · อนุมัติ 4M ขั้น QA · QA/QC · CQI-15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63339"/>
            <a:ext cx="1124712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3863339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document_control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6624" y="3863339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งานเอกสาร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3863339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จัดการเอกสาร/ฟอร์ม · ปฏิทินบริษัท · CQI-15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42816"/>
            <a:ext cx="11247120" cy="379476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242816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sale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06624" y="4242816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ขาย-จัดส่ง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2624" y="4242816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Planner &amp; Sales · Delivery · Kanban ·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22292"/>
            <a:ext cx="1124712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4622292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mtn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6624" y="4622292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ซ่อมบำรุง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2624" y="4622292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งาน PM ทั้งหมด · ใบซ่อม MO · ผัง/ฐานข้อมูลเครื่องจักร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01768"/>
            <a:ext cx="11247120" cy="379476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" y="5001768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engineer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6624" y="5001768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งานวิศวกรรม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2624" y="5001768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Product Master (BOM/EC/New Model) · LPA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81244"/>
            <a:ext cx="1124712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5381244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planner_store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6624" y="5381244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แผนงาน-คลัง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92624" y="5381244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Store · Kanban · Rack · Rundown · อัปโหลด Forecast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760720"/>
            <a:ext cx="11247120" cy="379476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" y="5760720"/>
            <a:ext cx="2084831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display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6624" y="5760720"/>
            <a:ext cx="217627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จอแสดงผล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92624" y="5760720"/>
            <a:ext cx="6656832" cy="37947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ดูอย่างเดียว (จอ TV หน้างาน) · ไม่ถูก auto-logout</a:t>
            </a:r>
          </a:p>
        </p:txBody>
      </p:sp>
      <p:pic>
        <p:nvPicPr>
          <p:cNvPr id="56" name="Picture 55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พื้นฐาน &amp; ขอบเขตการเห็นข้อมูล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สิ่งที่ทุกเลเวลต้องเข้าใจก่อนใช้งาน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54864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ขอบเขตการเห็นข้อมูล (Scoping)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486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5486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admin · qa  </a:t>
            </a:r>
            <a:r>
              <a:rPr sz="1100" b="0" i="0">
                <a:solidFill>
                  <a:srgbClr val="068734"/>
                </a:solidFill>
                <a:latin typeface="Tahoma"/>
              </a:rPr>
              <a:t>เห็นข้อมูลทั้งโรงงานเสมอ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07208"/>
            <a:ext cx="5486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807208"/>
            <a:ext cx="5486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supervisor  </a:t>
            </a:r>
            <a:r>
              <a:rPr sz="1100" b="0" i="0">
                <a:solidFill>
                  <a:srgbClr val="068734"/>
                </a:solidFill>
                <a:latin typeface="Tahoma"/>
              </a:rPr>
              <a:t>เห็นเฉพาะ section ของตัวเอง (หลาย section ได้)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5486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465576"/>
            <a:ext cx="5486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leader  </a:t>
            </a:r>
            <a:r>
              <a:rPr sz="1100" b="0" i="0">
                <a:solidFill>
                  <a:srgbClr val="068734"/>
                </a:solidFill>
                <a:latin typeface="Tahoma"/>
              </a:rPr>
              <a:t>เห็นเฉพาะไลน์ + ทีม (A/B/C) ของตัวเอง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23944"/>
            <a:ext cx="5486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23944"/>
            <a:ext cx="5486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manager  </a:t>
            </a:r>
            <a:r>
              <a:rPr sz="1100" b="0" i="0">
                <a:solidFill>
                  <a:srgbClr val="068734"/>
                </a:solidFill>
                <a:latin typeface="Tahoma"/>
              </a:rPr>
              <a:t>ทุก section (เว้นแต่ถูกกำหนดให้ดูแลเฉพาะบาง section)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00200"/>
            <a:ext cx="5468112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581912"/>
            <a:ext cx="546811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กฎพื้นฐานที่ต้องรู้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148840"/>
            <a:ext cx="5468112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148840"/>
            <a:ext cx="54681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วันที่งาน (Work Date)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ก่อน 08:00 น. นับเป็นวันทำงานเมื่อวาน (กะดึกข้ามคืน)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807208"/>
            <a:ext cx="5468112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807208"/>
            <a:ext cx="54681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กะ (Shift)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กะเช้า 08:00–19:59 · กะดึก 20:00–07:59 · A/B หมุน, C เช้าตลอด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465576"/>
            <a:ext cx="5468112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465576"/>
            <a:ext cx="54681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ไฟ Andon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เขียว=ปกติ · เหลืองนิ่ง=เฝ้าระวัง · แดงกระพริบ=ค้าง/อันตราย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123944"/>
            <a:ext cx="5468112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123944"/>
            <a:ext cx="54681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Auto-logout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ไม่ใช้งาน 30 นาที → ออกอัตโนมัติ (display ยกเว้น)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เมนูซ้ายจัดเป็น 8 หมวด · เห็นเฉพาะหน้าที่เลเวลคุณมีสิทธิ์ · สิทธิ์ปรับได้จากหน้า "จัดการสิทธิ์" (admin)</a:t>
            </a:r>
          </a:p>
        </p:txBody>
      </p:sp>
      <p:pic>
        <p:nvPicPr>
          <p:cNvPr id="29" name="Picture 28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photo_robots.png"/>
          <p:cNvPicPr>
            <a:picLocks noChangeAspect="1"/>
          </p:cNvPicPr>
          <p:nvPr/>
        </p:nvPicPr>
        <p:blipFill>
          <a:blip r:embed="rId3"/>
          <a:srcRect t="2975" b="2975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651760"/>
            <a:ext cx="5394960" cy="1463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Part C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Features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ฟีเจอร์ตามหมวด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ภาพรวม  +  วิเคราะห์ &amp; รายงาน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จอแสดงผล/ผู้บริหาร และรายงานวิเคราะห์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(ดู)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ภาพรวมโรงงาน real-time: KPI · ผังไลน์ · OEE (เหมาะจอ TV)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596896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ผังรวมโรงงาน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596896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แก้: admin/mgr/sv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96896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ผังใหญ่ 1 รูป วาดกรอบแต่ละไลน์ ระบายสีตามสถานะผลิต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55263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255263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OEE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255263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(ดู)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55263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วิเคราะห์ A/P/Q + แท็บ Insight Engine หาสาเหตุยอดไม่ได้เป้า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13631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รายงาน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3913631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อนุมัติ 4M ตาม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913631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เช็คชื่อ/PPE/จุดงาน · อนุมัติ 4M · ออกเอกสาร PDF/CSV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1999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571999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Skill Matrix &amp; ค่าฝีมือ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4571999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4571999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3 แท็บสกิล + ฟอร์มพิมพ์ (Multi-Skill / ใบประเมินรายบุคคล)</a:t>
            </a:r>
          </a:p>
        </p:txBody>
      </p:sp>
      <p:pic>
        <p:nvPicPr>
          <p:cNvPr id="32" name="Picture 31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ฝ่ายผลิต (งานประจำวัน)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งานหน้างานประจำวันของฝ่ายผลิต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2179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ประชุมแถวเช้า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บันทึก: mgr/sv/leader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บอร์ดประชุมเช้าดึงข้อมูลอัตโนมัติ + โหมดประชุม/Gesture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560320"/>
            <a:ext cx="254203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เช็คชื่อ &amp; PPE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560320"/>
            <a:ext cx="272491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leader/sv/mgr (ตาม scope)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60320"/>
            <a:ext cx="565099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เช็คชื่อรายกะ + PPE + การลา + จองรถ 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82112"/>
            <a:ext cx="11247120" cy="62179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182112"/>
            <a:ext cx="254203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จัดการไลน์ผลิต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182112"/>
            <a:ext cx="272491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leader/sv/mgr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182112"/>
            <a:ext cx="565099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จัดคนลงสถานี (skill fit) + บันทึก 4M อัตโนมัติ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03904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803904"/>
            <a:ext cx="254203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Daily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3803904"/>
            <a:ext cx="272491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leader เปิด/สแกน · sv+ ปิดกะ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803904"/>
            <a:ext cx="565099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บันทึกผลิต + Downtime + งานเสีย + OEE รายกะ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25696"/>
            <a:ext cx="11247120" cy="62179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425696"/>
            <a:ext cx="254203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วางแผนการผลิต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4425696"/>
            <a:ext cx="272491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mgr/sv/leader/planner/sale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4425696"/>
            <a:ext cx="565099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กำลังผลิตจริง vs order → บอกวัน OT/กะดึก/วันหยุด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47488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5047488"/>
            <a:ext cx="254203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Daily PM · Improvements · LPA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3824" y="5047488"/>
            <a:ext cx="272491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(จัดการตามสิทธิ์)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8464" y="5047488"/>
            <a:ext cx="5650992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PM ประจำวัน · Kaizen เทียบผลอัตโนมัติ · Audit FM-QMR-008</a:t>
            </a:r>
          </a:p>
        </p:txBody>
      </p:sp>
      <p:pic>
        <p:nvPicPr>
          <p:cNvPr id="36" name="Picture 35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พนักงาน &amp; ทักษะ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ฐานข้อมูลคน ทักษะ และตารางกะ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เพิ่มพนักงาน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admin/mgr/sv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ลงทะเบียนพนักงานใหม่ + รูป (crop วงกลม)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88336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688336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ฐานข้อมูลพนักงาน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688336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แก้สกิล: sv+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688336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โปรไฟล์ + Skill Matrix + สะสม EXP อัตโนมัติ + Level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38144"/>
            <a:ext cx="1124712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438144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อบรมสอนงาน OJT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438144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บันทึก: mgr/sv/leader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438144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ใบอบรม FM-HRM-004 paperless: เซ็นบนจอ + พิมพ์ PDF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87952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187952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ตารางกะ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4187952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แก้: admin/mgr/sv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4187952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ตารางกะ A/B รายสัปดาห์ + override + ยุบกะ</a:t>
            </a:r>
          </a:p>
        </p:txBody>
      </p:sp>
      <p:pic>
        <p:nvPicPr>
          <p:cNvPr id="28" name="Picture 27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Logistic -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คลัง พาร์ทย่อย และการส่งงานลูกค้า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Store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จ่าย: leader+ · รอบส่ง: sv+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พาร์ทย่อยคงเหลือในไลน์ + ตั้งรอบจัดส่ง Kanban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596896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Kanban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596896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Store + Production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96896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ระเบิด BOM → จำนวนใบ Kanban + คุม pull store↔line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55263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255263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Rack 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255263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line + rack staff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55263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เรียกภาชนะ/แร็คเปล่าคืน (เรียก→เตรียม→ส่ง→รับ)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13631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Planner &amp;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3913631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mgr/sv/leader/qa/sale/planner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913631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อัปโหลด Forecast/Order + คำนวณจำนวน Kanban อัตโนมัติ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1999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571999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Rundown ·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4571999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mgr/sv/leader/qa/sale/planner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4571999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Balance FG รายวัน · Shipping Chart ติดตามส่งลูกค้า</a:t>
            </a:r>
          </a:p>
        </p:txBody>
      </p:sp>
      <p:pic>
        <p:nvPicPr>
          <p:cNvPr id="32" name="Picture 31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การตรวจสอบและซ่อมบำรุง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งานซ่อมและ PM เครื่องจักร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แจ้งซ่อม MTN (MO)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แจ้ง: ทุก role · ทำ: ตามทีม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ใบแจ้งซ่อม 7 ขั้น (แจ้ง→รับ→ซ่อม→ตรวจ→QA→รับมอบ→ปิด)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596896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ตรวจสอบอุปกรณ์ (PM Check)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596896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บันทึก: ทุกคน · อนุมัติ: sv/qa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96896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บันทึกผลตรวจ PM + เทียบรูป "จับผิด" +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55263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255263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แผน PM · PM ล่วงหน้า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255263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55263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ตารางครบกำหนด PM · คาดการณ์วัน PM ล่วงหน้า + buffer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13631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ผังเครื่องจักร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3913631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ทุก role · แก้: pm:setup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913631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ผังเครื่อง + Andon 2 ระดับ (ซ่อมค้าง/PM ใกล้ครบ)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1999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571999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Setup อุปกรณ์ (PM Setup)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4571999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admin/mgr/sv/mtn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4571999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ตั้งอุปกรณ์/JIG + check sheet (จุดตรวจ) + ความถี่</a:t>
            </a:r>
          </a:p>
        </p:txBody>
      </p:sp>
      <p:pic>
        <p:nvPicPr>
          <p:cNvPr id="32" name="Picture 31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ควบคุมคุณภาพ QA/QC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งานคุณภาพและเอกสารคุณภาพ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Quality Control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mgr/sv/leader/qa/doc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ศูนย์ควบคุมคุณภาพ + drawing มาตรฐาน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88336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688336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มาตรฐานการตรวจ &amp; Drawing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688336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admin/mgr/qa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688336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ตั้งมาตรฐานการตรวจต่อพาร์ท + อัปโหลด drawing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38144"/>
            <a:ext cx="1124712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438144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ใบรายงานของเสีย (Scrap)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438144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record: qa/leader+ · อนุมัติ: qa/mgr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438144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แทนฟอร์ม FM-PD2-002 → ดึง NG อัตโนมัติ → export Excel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87952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187952"/>
            <a:ext cx="25420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CQI-15 Event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4187952"/>
            <a:ext cx="272491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สร้าง: ทุกคน · อนุมัติ: 4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4187952"/>
            <a:ext cx="565099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บันทึกเหตุการณ์งานเชื่อม + workflow อนุมัติ O/QT/JME/ME</a:t>
            </a:r>
          </a:p>
        </p:txBody>
      </p:sp>
      <p:pic>
        <p:nvPicPr>
          <p:cNvPr id="28" name="Picture 27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หมวด ตั้งค่าโปรแกรม, ฐานข้อมูล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Master data และการตั้งค่าระบบ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 / 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72768"/>
            <a:ext cx="28346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เลเวลที่ใช้งาน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2768"/>
            <a:ext cx="57607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38528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แผนผังองค์กร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38528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 เท่านั้น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1938528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Section → Department → Group + Cost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596896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Product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596896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admin/mgr/sv/engineer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96896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สินค้า/พาร์ท/BOM/Kanban Std · EC = สร้าง revision ใหม่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55263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255263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ตั้งค่าผังไลน์ · ฐานข้อมูลเครื่องจักร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255263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admin/mgr/sv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55263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อัปโหลดผัง + วางหมุดจุดงาน/WIP/เครื่อง · ทะเบียนเครื่อง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13631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ปฏิทินบริษัท · Doc 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3913631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admin/doc (แก้)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913631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วันทำงาน/วันหยุด · ทะเบียนเลขฟอร์ม/ลายเซ็น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1999"/>
            <a:ext cx="1124712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571999"/>
            <a:ext cx="254203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068734"/>
                </a:solidFill>
                <a:latin typeface="Tahoma"/>
              </a:rPr>
              <a:t>แจ้งเตือน · สิทธิ์ · จัดการผู้ใช้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4571999"/>
            <a:ext cx="272491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admin เท่านั้น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4571999"/>
            <a:ext cx="5650992" cy="6583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068734"/>
                </a:solidFill>
                <a:latin typeface="Tahoma"/>
              </a:rPr>
              <a:t>ตั้ง Telegram · matrix สิทธิ์ role×หน้า · สร้าง/แก้บัญชี</a:t>
            </a:r>
          </a:p>
        </p:txBody>
      </p:sp>
      <p:pic>
        <p:nvPicPr>
          <p:cNvPr id="32" name="Picture 31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สรุปสิทธิ์การเข้าถึงตามเลเวล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ยึดค่าเริ่มต้น — ปรับได้จริงที่หน้า "จัดการสิทธิ์" (admin)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74552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46304" cy="96012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4023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68734"/>
                </a:solidFill>
                <a:latin typeface="Tahoma"/>
              </a:rPr>
              <a:t>ผู้ดูแลระบบ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2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91640"/>
            <a:ext cx="6583680" cy="9601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ทุกหน้า ทุก action — รวมจัดการผู้ใช้/สิทธิ์/ตั้งค่าระบบ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11274552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70632"/>
            <a:ext cx="146304" cy="96012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43784"/>
            <a:ext cx="4023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68734"/>
                </a:solidFill>
                <a:latin typeface="Tahoma"/>
              </a:rPr>
              <a:t>ผู้บริหาร &amp; หัวหน้า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00984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manager · supervisor · leader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70632"/>
            <a:ext cx="6583680" cy="9601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ผลิต + รายงาน + พนักงาน + อนุมัติ (ตาม scope: ฝ่าย/ส่วน/ไลน์)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9624"/>
            <a:ext cx="11274552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9624"/>
            <a:ext cx="146304" cy="96012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4023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68734"/>
                </a:solidFill>
                <a:latin typeface="Tahoma"/>
              </a:rPr>
              <a:t>ทีมเฉพาะทาง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9976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68734"/>
                </a:solidFill>
                <a:latin typeface="Tahoma"/>
              </a:rPr>
              <a:t>qa · mtn · engineer · planner_store · sale · document_control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49624"/>
            <a:ext cx="6583680" cy="9601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เข้าหน้าตามงานของตน — คุณภาพ / ซ่อมบำรุง / วิศวกรรม / คลัง-ขาย / เอกสาร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28616"/>
            <a:ext cx="11274552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28616"/>
            <a:ext cx="146304" cy="9601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01768"/>
            <a:ext cx="4023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68734"/>
                </a:solidFill>
                <a:latin typeface="Tahoma"/>
              </a:rPr>
              <a:t>จอแสดงผล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58968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55555"/>
                </a:solidFill>
                <a:latin typeface="Tahoma"/>
              </a:rPr>
              <a:t>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28616"/>
            <a:ext cx="6583680" cy="9601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ดูอย่างเดียว (จอ TV หน้างาน) — ไม่แก้ข้อมูล ไม่ถูก auto-logout</a:t>
            </a:r>
          </a:p>
        </p:txBody>
      </p:sp>
      <p:pic>
        <p:nvPicPr>
          <p:cNvPr id="28" name="Picture 27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Before We Build Parts,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We Build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ขอบคุณครับ  · 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เอกสารเต็ม: docs/WORK_INSTRUCTION.md</a:t>
            </a:r>
          </a:p>
        </p:txBody>
      </p:sp>
      <p:pic>
        <p:nvPicPr>
          <p:cNvPr id="6" name="Picture 5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